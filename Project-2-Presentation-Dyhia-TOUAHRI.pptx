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93" r:id="rId3"/>
    <p:sldId id="258" r:id="rId4"/>
    <p:sldId id="264" r:id="rId5"/>
    <p:sldId id="304" r:id="rId6"/>
    <p:sldId id="309" r:id="rId7"/>
    <p:sldId id="270" r:id="rId8"/>
    <p:sldId id="269" r:id="rId9"/>
    <p:sldId id="314" r:id="rId10"/>
    <p:sldId id="292" r:id="rId11"/>
    <p:sldId id="310" r:id="rId12"/>
    <p:sldId id="311" r:id="rId13"/>
    <p:sldId id="315" r:id="rId14"/>
    <p:sldId id="298" r:id="rId15"/>
    <p:sldId id="294" r:id="rId16"/>
    <p:sldId id="312" r:id="rId17"/>
    <p:sldId id="316" r:id="rId18"/>
    <p:sldId id="313" r:id="rId19"/>
    <p:sldId id="299" r:id="rId20"/>
    <p:sldId id="276" r:id="rId21"/>
    <p:sldId id="306" r:id="rId22"/>
    <p:sldId id="308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51" autoAdjust="0"/>
    <p:restoredTop sz="95033" autoAdjust="0"/>
  </p:normalViewPr>
  <p:slideViewPr>
    <p:cSldViewPr snapToGrid="0">
      <p:cViewPr varScale="1">
        <p:scale>
          <a:sx n="132" d="100"/>
          <a:sy n="132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2288C98-92A3-6F96-F9DF-C4DACA9B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AEB802C7-47A9-C437-237C-C7A08985F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38B8FFA-215C-7548-7D13-1AA64425E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7065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C34A2CE-2497-F3ED-3404-D5C2933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BFA3EA-EBF6-0118-F30E-DE06C256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2C745CE-3663-A8B6-DCA0-1BD7ABDAE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7876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11B7DA6-EB8A-DC74-BBC6-6A81AB75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1B0A718-144D-57EA-6B42-DE803C2AC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526D5F44-87E2-DB65-7973-0F3F6DD77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80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649F544-7DE9-A5C5-E105-DDF1B75B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7BACBA-4AC4-2090-B776-D5CCC239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1BD9BE11-0A63-B87D-EA03-EE288FA38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1028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0EC97B-E4C8-6EEC-54A7-4E7F624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89B2D-4B36-8610-71AF-9782C1F6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F457678-E85C-3743-3656-B0C11CCA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86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4E7ACE8-7EF0-3D49-F2DE-2F55EEA7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4DF97BE-BC2C-5391-0C43-C69F868B0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0858D6A-705A-BE4C-81DE-07BDE410F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975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3D8FEF6-AFBE-1381-03AD-64B92FEF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835BEC1-49A9-929A-01F7-D8232D86F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A02EED8-D25D-697A-4B5C-23B547F0E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278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97BA40-11CA-CCA9-60A8-3A72312E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E7846F5-CEC0-943A-53BD-AA3BB38FD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68E009C-E44C-3ADB-D528-93402441D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57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E1ABAC1-5AC4-1BB7-AF35-FCC6A7AF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0C46504-4D32-640D-F3CE-0C7FE14D4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831C158-FDD7-B90B-02F6-F4D453141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425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C7052CA-A774-B97D-5AEB-B6F8B04B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BEDAB05-4484-E83C-5837-89074A603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C0F3F21-38D8-D71A-2959-4CD1D5B53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026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5B912E7-3890-8C63-69BA-CF9C8DED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4279EDE-4A1A-CBEB-519E-B7B4D764A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14B55D5-3465-3725-5202-8B29365F5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96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1833BB0-3FE4-7F30-466F-1B0465E5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4788E4F6-E7ED-7A9F-39D8-53D0FDC57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E59DB80B-86F6-DFFE-E0A7-B213DB2B0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9612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F246E85-B701-2EB9-981A-C0CAAF2E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11BFFBF-A512-36C3-6EC1-DEA7C22D8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A18BACC-30E6-A754-B25E-EC8BB0158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1172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7AA4729-C909-7B56-4A99-88CD491A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D63F670-181E-2777-DC55-97CD6E7EB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456199E-2CE7-383F-7927-5E1FE91DA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9681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BADA0F4-B14C-0033-216C-0F15EFAF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280573A-3E7F-5516-D55E-49C9583A8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E6A607C-E610-BC26-27B6-A77D382C7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094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4184E3E-E4B4-260C-3CF2-E5DE7486A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9CB0D02C-56A7-E3C0-8BE2-17D93D43A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06082998-417C-9C26-87C2-72C5FA61B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409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1468BE8-5D44-FFFD-30B9-A4EDFFE1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C4C62F7-CCD1-11C4-3122-943C916CD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E51BE89-C383-8716-86C8-6CDB0C708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3860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461B9B-63A8-424E-2607-346598F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000516A-F476-70BE-5AA6-64117F5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A70E6C2D-F23F-8AB3-9EE0-679DE68A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3977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7B1D397-B073-CF48-95F4-C0F52F51B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8AE8199-A1F5-275C-9283-F9FB7AB3A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59CD5DAA-A536-07FC-D5E7-C62C0A8E8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5531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0DE1C81-4ECD-FCA7-C01F-FF9E4557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>
            <a:extLst>
              <a:ext uri="{FF2B5EF4-FFF2-40B4-BE49-F238E27FC236}">
                <a16:creationId xmlns:a16="http://schemas.microsoft.com/office/drawing/2014/main" id="{7554AC4A-152E-0745-5B5B-9ED0810F5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8" name="Google Shape;108;g77ed9f117a_2_3:notes">
            <a:extLst>
              <a:ext uri="{FF2B5EF4-FFF2-40B4-BE49-F238E27FC236}">
                <a16:creationId xmlns:a16="http://schemas.microsoft.com/office/drawing/2014/main" id="{CCE95817-719D-EFF7-6C32-D5D209FD6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355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94B73D-D23B-9D61-DB75-98B600FBAC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52087" y="4927600"/>
            <a:ext cx="66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A8A8A8">
                    <a:alpha val="50000"/>
                  </a:srgbClr>
                </a:solidFill>
                <a:latin typeface="Aptos" panose="020B0004020202020204" pitchFamily="34" charset="0"/>
              </a:rPr>
              <a:t>C2 - Interne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492489"/>
            <a:ext cx="9144000" cy="1190038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Amazon </a:t>
            </a:r>
            <a:r>
              <a:rPr lang="fr-FR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Review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endParaRPr sz="40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451" y="2760392"/>
            <a:ext cx="3405549" cy="238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0" y="1537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0" y="4305600"/>
            <a:ext cx="2548800" cy="577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" sz="20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Dyhia TOUAHRI</a:t>
            </a:r>
            <a:endParaRPr sz="2000" dirty="0">
              <a:solidFill>
                <a:srgbClr val="00206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D7A73CF2-6999-621A-BC04-F15157F7B146}"/>
              </a:ext>
            </a:extLst>
          </p:cNvPr>
          <p:cNvSpPr txBox="1">
            <a:spLocks/>
          </p:cNvSpPr>
          <p:nvPr/>
        </p:nvSpPr>
        <p:spPr>
          <a:xfrm>
            <a:off x="29184" y="4816800"/>
            <a:ext cx="2361600" cy="32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1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17 décembre 2025</a:t>
            </a:r>
          </a:p>
        </p:txBody>
      </p:sp>
      <p:pic>
        <p:nvPicPr>
          <p:cNvPr id="4" name="Image 3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DFFCABE3-530E-7BAC-2ECD-78E65B8D1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408" y="92397"/>
            <a:ext cx="712428" cy="712428"/>
          </a:xfrm>
          <a:prstGeom prst="rect">
            <a:avLst/>
          </a:prstGeom>
        </p:spPr>
      </p:pic>
      <p:pic>
        <p:nvPicPr>
          <p:cNvPr id="6" name="Image 5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E33807E-2F76-0FD4-AC8E-32558EAB2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871" y="113970"/>
            <a:ext cx="639179" cy="229455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BADACA1-7A57-6DAC-C6D9-7615452FE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4777" y="804825"/>
            <a:ext cx="2500040" cy="754573"/>
          </a:xfrm>
          <a:prstGeom prst="rect">
            <a:avLst/>
          </a:prstGeom>
        </p:spPr>
      </p:pic>
      <p:pic>
        <p:nvPicPr>
          <p:cNvPr id="5" name="Image 4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83782C4E-A086-8C3B-4521-B9A5CC447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5891" y="352641"/>
            <a:ext cx="495159" cy="2962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B8E2430-33CF-173E-880C-EAE7ADC4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0A8092F-DCEE-17C1-9EC3-6F72F77EC41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Bloc 2</a:t>
            </a:r>
            <a:endParaRPr sz="48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8AEB940F-410B-7B9B-A0EF-2BEC9B788D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0C5110E8-AE56-8999-B908-4B5C479E15A4}"/>
              </a:ext>
            </a:extLst>
          </p:cNvPr>
          <p:cNvSpPr/>
          <p:nvPr/>
        </p:nvSpPr>
        <p:spPr>
          <a:xfrm>
            <a:off x="1040272" y="2422418"/>
            <a:ext cx="1745131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96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Plan</a:t>
            </a:r>
            <a:endParaRPr sz="2500"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1319896" y="1080122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Contexte et objectifs du projet</a:t>
            </a:r>
            <a:endParaRPr sz="2200" dirty="0">
              <a:solidFill>
                <a:srgbClr val="00206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70" name="Google Shape;70;p15"/>
          <p:cNvSpPr/>
          <p:nvPr/>
        </p:nvSpPr>
        <p:spPr>
          <a:xfrm rot="-355994">
            <a:off x="982384" y="327146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ctrTitle" idx="4294967295"/>
          </p:nvPr>
        </p:nvSpPr>
        <p:spPr>
          <a:xfrm>
            <a:off x="1319896" y="3561361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100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Conclusion</a:t>
            </a:r>
          </a:p>
        </p:txBody>
      </p:sp>
      <p:sp>
        <p:nvSpPr>
          <p:cNvPr id="72" name="Google Shape;72;p15"/>
          <p:cNvSpPr/>
          <p:nvPr/>
        </p:nvSpPr>
        <p:spPr>
          <a:xfrm rot="-355994">
            <a:off x="982384" y="380456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B337A37D-EB88-9CFF-4A9D-88DED995229B}"/>
              </a:ext>
            </a:extLst>
          </p:cNvPr>
          <p:cNvSpPr/>
          <p:nvPr/>
        </p:nvSpPr>
        <p:spPr>
          <a:xfrm rot="-355994">
            <a:off x="982383" y="132329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90462975-A40B-4D59-119D-DEEF2BA24BAA}"/>
              </a:ext>
            </a:extLst>
          </p:cNvPr>
          <p:cNvSpPr/>
          <p:nvPr/>
        </p:nvSpPr>
        <p:spPr>
          <a:xfrm rot="-355994">
            <a:off x="982383" y="18192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A635064-37F8-412D-9D79-B4CBA291B731}"/>
              </a:ext>
            </a:extLst>
          </p:cNvPr>
          <p:cNvSpPr txBox="1">
            <a:spLocks/>
          </p:cNvSpPr>
          <p:nvPr/>
        </p:nvSpPr>
        <p:spPr>
          <a:xfrm>
            <a:off x="1319896" y="1576052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Architecture globale</a:t>
            </a:r>
          </a:p>
        </p:txBody>
      </p:sp>
      <p:sp>
        <p:nvSpPr>
          <p:cNvPr id="6" name="Google Shape;69;p15">
            <a:extLst>
              <a:ext uri="{FF2B5EF4-FFF2-40B4-BE49-F238E27FC236}">
                <a16:creationId xmlns:a16="http://schemas.microsoft.com/office/drawing/2014/main" id="{A631BA53-0717-3D98-FCBC-4980A1C8985E}"/>
              </a:ext>
            </a:extLst>
          </p:cNvPr>
          <p:cNvSpPr txBox="1">
            <a:spLocks/>
          </p:cNvSpPr>
          <p:nvPr/>
        </p:nvSpPr>
        <p:spPr>
          <a:xfrm>
            <a:off x="1319896" y="3028284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100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Tests et validation</a:t>
            </a:r>
          </a:p>
        </p:txBody>
      </p:sp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1141846A-FB1B-34E8-F60D-E6F0C13475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5C5996A2-7B03-00FB-8158-30D3B101A6E9}"/>
              </a:ext>
            </a:extLst>
          </p:cNvPr>
          <p:cNvSpPr/>
          <p:nvPr/>
        </p:nvSpPr>
        <p:spPr>
          <a:xfrm rot="-355994">
            <a:off x="982382" y="27966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91C59234-5752-E05F-3399-5B7011CABA93}"/>
              </a:ext>
            </a:extLst>
          </p:cNvPr>
          <p:cNvSpPr txBox="1">
            <a:spLocks/>
          </p:cNvSpPr>
          <p:nvPr/>
        </p:nvSpPr>
        <p:spPr>
          <a:xfrm>
            <a:off x="1319895" y="255343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Analyse des avis</a:t>
            </a:r>
            <a:endParaRPr lang="fr-FR" sz="2200" dirty="0">
              <a:solidFill>
                <a:srgbClr val="00206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17" name="Google Shape;72;p15">
            <a:extLst>
              <a:ext uri="{FF2B5EF4-FFF2-40B4-BE49-F238E27FC236}">
                <a16:creationId xmlns:a16="http://schemas.microsoft.com/office/drawing/2014/main" id="{3F208B8C-67D1-3486-CDB9-4FAEC1630D02}"/>
              </a:ext>
            </a:extLst>
          </p:cNvPr>
          <p:cNvSpPr/>
          <p:nvPr/>
        </p:nvSpPr>
        <p:spPr>
          <a:xfrm rot="21244006">
            <a:off x="979660" y="229820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9;p15">
            <a:extLst>
              <a:ext uri="{FF2B5EF4-FFF2-40B4-BE49-F238E27FC236}">
                <a16:creationId xmlns:a16="http://schemas.microsoft.com/office/drawing/2014/main" id="{AAC55EE3-C78B-513C-EDA5-BBE4F41E8FAE}"/>
              </a:ext>
            </a:extLst>
          </p:cNvPr>
          <p:cNvSpPr txBox="1">
            <a:spLocks/>
          </p:cNvSpPr>
          <p:nvPr/>
        </p:nvSpPr>
        <p:spPr>
          <a:xfrm>
            <a:off x="1317173" y="2055027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Pipeline ETL et stockage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9650325-D0F1-DAE6-D75F-EE8F6F7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85B00054-1755-8345-C73C-314D154E9703}"/>
              </a:ext>
            </a:extLst>
          </p:cNvPr>
          <p:cNvSpPr/>
          <p:nvPr/>
        </p:nvSpPr>
        <p:spPr>
          <a:xfrm>
            <a:off x="278271" y="2443234"/>
            <a:ext cx="7929557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5332E44-E88D-8B52-1CDF-8923630613C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46384" y="1702750"/>
            <a:ext cx="8997615" cy="1250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Contexte et objectifs du projet</a:t>
            </a:r>
            <a:endParaRPr sz="45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A221F4FC-0735-A085-E35E-8F8283A0EA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89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B0FE6C5-BDC2-EA6D-343A-3DA27328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B2E63884-104E-1660-EC34-7C01F12DC5B6}"/>
              </a:ext>
            </a:extLst>
          </p:cNvPr>
          <p:cNvSpPr/>
          <p:nvPr/>
        </p:nvSpPr>
        <p:spPr>
          <a:xfrm>
            <a:off x="870309" y="467834"/>
            <a:ext cx="3970205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985051F-B8A8-1459-35B9-04E2AFA47E4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753036" cy="484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Contexte et objectifs du projet</a:t>
            </a:r>
            <a:endParaRPr sz="2500"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42EC0827-A0F0-EC33-6C5E-C620A081B4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D5DBC047-F157-9B58-059A-1C467164D91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DC77D82-E63B-DC4B-B54E-1690E16C1DFB}"/>
              </a:ext>
            </a:extLst>
          </p:cNvPr>
          <p:cNvSpPr txBox="1"/>
          <p:nvPr/>
        </p:nvSpPr>
        <p:spPr>
          <a:xfrm>
            <a:off x="510747" y="1037446"/>
            <a:ext cx="763291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Objectif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Automatiser l’analyse des avis Amazon pour classifier et scorer les plus pertinents, avec indicateurs clairs pour aide à la décision.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Fonctionnalités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Extraction/ETL → nettoyage → stockage (Datawarehouse + NoSQL) → classification (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Zero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-Shot) →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scoring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pondéré → visualisation KPIs (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Streamlit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Contraintes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Données statiques et limitées, infrastructure locale, équipe junior, respect RGPD/CCPA, biais possibles, compatibilité outils.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Architecture &amp; outils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PostgreSQL, S3, Snowflake, MongoDB, Python,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Airflow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Streamlit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Git/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Github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 Pipeline modulable et scalable.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Algorithmes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Zero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-Shot Multilingue pour classification,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scoring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pondéré basé sur longueur du texte, sentiment, image, note extrême et commande.</a:t>
            </a:r>
          </a:p>
        </p:txBody>
      </p:sp>
    </p:spTree>
    <p:extLst>
      <p:ext uri="{BB962C8B-B14F-4D97-AF65-F5344CB8AC3E}">
        <p14:creationId xmlns:p14="http://schemas.microsoft.com/office/powerpoint/2010/main" val="56861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02633F9-3896-D941-4792-30B1E681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02B57C58-3035-F549-DD96-94F6703F1EFC}"/>
              </a:ext>
            </a:extLst>
          </p:cNvPr>
          <p:cNvSpPr/>
          <p:nvPr/>
        </p:nvSpPr>
        <p:spPr>
          <a:xfrm flipV="1">
            <a:off x="278272" y="2459925"/>
            <a:ext cx="545487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3E06419-E0A6-F78F-30A5-8607F774615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24971" y="1705429"/>
            <a:ext cx="8919028" cy="12482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Architecture globale</a:t>
            </a:r>
            <a:endParaRPr sz="45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BFF71D3-8B7C-FC4D-2114-0A7AB76163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097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0DDF8-3FF6-BC7F-ECE2-FE9969F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0449A64-0D8E-841E-6A98-B6073BFAE239}"/>
              </a:ext>
            </a:extLst>
          </p:cNvPr>
          <p:cNvSpPr/>
          <p:nvPr/>
        </p:nvSpPr>
        <p:spPr>
          <a:xfrm>
            <a:off x="870309" y="442094"/>
            <a:ext cx="296146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33FFFE1-6EF2-EE31-553D-B6998730BA3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-19842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Architecture globale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F3895AE-DC28-A69F-23F1-1C1EB7C676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5907DFD9-CEE2-ABBB-EC31-94638272F36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514B02-1282-AEA5-E2EA-8D7081191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30" y="1275248"/>
            <a:ext cx="8074882" cy="313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1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4B9C5F7-DE9C-A314-4F94-2DF56087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1FB858E7-EDC4-58C8-9625-F47376D5C0A5}"/>
              </a:ext>
            </a:extLst>
          </p:cNvPr>
          <p:cNvSpPr/>
          <p:nvPr/>
        </p:nvSpPr>
        <p:spPr>
          <a:xfrm flipV="1">
            <a:off x="837797" y="2468879"/>
            <a:ext cx="6666089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5A891C-B11B-0BE7-BDC7-93EAF232464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46357" y="1702750"/>
            <a:ext cx="7858800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Pipeline ETL et stockage</a:t>
            </a:r>
            <a:endParaRPr sz="48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71C210E3-BB92-B68A-42EF-1BDE04DF17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62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8E5949F-B83A-9A66-4E78-3BD1D553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B5DD94BC-52C6-C166-2FEA-4DEFD9044F1A}"/>
              </a:ext>
            </a:extLst>
          </p:cNvPr>
          <p:cNvSpPr/>
          <p:nvPr/>
        </p:nvSpPr>
        <p:spPr>
          <a:xfrm>
            <a:off x="870309" y="464944"/>
            <a:ext cx="370168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E7B3180-8E61-8EB7-A92D-4B18ED0E90F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11906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Pipeline ETL et stockage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0BF9930-2B19-F00E-100E-232DA481C4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8CFB54CC-4B5C-DAC7-F58D-639E8298CC1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5FE5B3E-73E4-72EC-5F3E-3019D4434841}"/>
              </a:ext>
            </a:extLst>
          </p:cNvPr>
          <p:cNvSpPr txBox="1"/>
          <p:nvPr/>
        </p:nvSpPr>
        <p:spPr>
          <a:xfrm>
            <a:off x="384035" y="589306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Déclenchement automatique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8F6F8-2A28-624C-C211-4B4A1F647624}"/>
              </a:ext>
            </a:extLst>
          </p:cNvPr>
          <p:cNvSpPr/>
          <p:nvPr/>
        </p:nvSpPr>
        <p:spPr>
          <a:xfrm>
            <a:off x="4173923" y="3456073"/>
            <a:ext cx="2457218" cy="2388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Main orchestrator</a:t>
            </a:r>
          </a:p>
        </p:txBody>
      </p:sp>
      <p:sp>
        <p:nvSpPr>
          <p:cNvPr id="6" name="Flèche : courbe vers la droite 5">
            <a:extLst>
              <a:ext uri="{FF2B5EF4-FFF2-40B4-BE49-F238E27FC236}">
                <a16:creationId xmlns:a16="http://schemas.microsoft.com/office/drawing/2014/main" id="{9551975E-040D-FCE4-F290-9902FF7522BB}"/>
              </a:ext>
            </a:extLst>
          </p:cNvPr>
          <p:cNvSpPr/>
          <p:nvPr/>
        </p:nvSpPr>
        <p:spPr>
          <a:xfrm>
            <a:off x="3346606" y="3968974"/>
            <a:ext cx="827317" cy="701787"/>
          </a:xfrm>
          <a:prstGeom prst="curvedRight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DA032B-3A07-CA08-7E67-AF93BF507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086" y="3714006"/>
            <a:ext cx="1318918" cy="50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DB9E41-10DD-FAC3-C588-E09E8DA2632E}"/>
              </a:ext>
            </a:extLst>
          </p:cNvPr>
          <p:cNvSpPr/>
          <p:nvPr/>
        </p:nvSpPr>
        <p:spPr>
          <a:xfrm>
            <a:off x="4173923" y="3947724"/>
            <a:ext cx="2457218" cy="2388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Extract to S3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8A0141-D211-3592-F988-79C9B3B8FCE6}"/>
              </a:ext>
            </a:extLst>
          </p:cNvPr>
          <p:cNvSpPr/>
          <p:nvPr/>
        </p:nvSpPr>
        <p:spPr>
          <a:xfrm>
            <a:off x="4173923" y="4417064"/>
            <a:ext cx="2457218" cy="2388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Transform and load data</a:t>
            </a:r>
          </a:p>
        </p:txBody>
      </p:sp>
      <p:sp>
        <p:nvSpPr>
          <p:cNvPr id="10" name="Flèche : courbe vers la droite 9">
            <a:extLst>
              <a:ext uri="{FF2B5EF4-FFF2-40B4-BE49-F238E27FC236}">
                <a16:creationId xmlns:a16="http://schemas.microsoft.com/office/drawing/2014/main" id="{A8980611-7763-EAE6-B278-44744DF86B0E}"/>
              </a:ext>
            </a:extLst>
          </p:cNvPr>
          <p:cNvSpPr/>
          <p:nvPr/>
        </p:nvSpPr>
        <p:spPr>
          <a:xfrm>
            <a:off x="3346606" y="3520883"/>
            <a:ext cx="827317" cy="701787"/>
          </a:xfrm>
          <a:prstGeom prst="curvedRight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3AA18E3-B279-15D1-991E-DBE8EAE6E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975" y="1114236"/>
            <a:ext cx="5739359" cy="218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3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B9C3DC9-829F-955F-F534-1B075C91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281A4194-130E-CAB9-A5CB-2E56C4B7EA42}"/>
              </a:ext>
            </a:extLst>
          </p:cNvPr>
          <p:cNvSpPr/>
          <p:nvPr/>
        </p:nvSpPr>
        <p:spPr>
          <a:xfrm>
            <a:off x="870309" y="464944"/>
            <a:ext cx="370168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F0305D3-A5C8-4C79-39AF-DCBCE171585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11906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Pipeline ETL et stockage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B259B97F-4F5E-47B0-94D8-66945AD8D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AA05F85F-BE71-F8E7-614E-9C47A1404F9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D5DA944-25AD-D94D-C28A-D65FC96EE02B}"/>
              </a:ext>
            </a:extLst>
          </p:cNvPr>
          <p:cNvSpPr txBox="1"/>
          <p:nvPr/>
        </p:nvSpPr>
        <p:spPr>
          <a:xfrm>
            <a:off x="384035" y="584699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 des données et anonymisation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BBCC6D0-9FD7-6F20-E2A5-D44188741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14" y="1150629"/>
            <a:ext cx="7972028" cy="35988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A11BF4-547A-A2E1-B94C-D246F43B1C30}"/>
              </a:ext>
            </a:extLst>
          </p:cNvPr>
          <p:cNvSpPr/>
          <p:nvPr/>
        </p:nvSpPr>
        <p:spPr>
          <a:xfrm>
            <a:off x="1973943" y="4114800"/>
            <a:ext cx="3207657" cy="51954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B294120-E90A-4854-8630-442CE22E51AE}"/>
              </a:ext>
            </a:extLst>
          </p:cNvPr>
          <p:cNvCxnSpPr/>
          <p:nvPr/>
        </p:nvCxnSpPr>
        <p:spPr>
          <a:xfrm flipV="1">
            <a:off x="2307771" y="3672114"/>
            <a:ext cx="435429" cy="442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B746BC8E-F8FA-0B65-6A43-CB8E8726E160}"/>
              </a:ext>
            </a:extLst>
          </p:cNvPr>
          <p:cNvSpPr txBox="1"/>
          <p:nvPr/>
        </p:nvSpPr>
        <p:spPr>
          <a:xfrm>
            <a:off x="2120666" y="3386721"/>
            <a:ext cx="2139277" cy="33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Étape d’anonymisation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91A519A-B88B-E970-C7F5-4A98F2FF25D7}"/>
              </a:ext>
            </a:extLst>
          </p:cNvPr>
          <p:cNvCxnSpPr/>
          <p:nvPr/>
        </p:nvCxnSpPr>
        <p:spPr>
          <a:xfrm flipV="1">
            <a:off x="3976914" y="3577771"/>
            <a:ext cx="1255486" cy="638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86E4FE9-C687-2901-18B0-8FC1897280D2}"/>
              </a:ext>
            </a:extLst>
          </p:cNvPr>
          <p:cNvSpPr txBox="1"/>
          <p:nvPr/>
        </p:nvSpPr>
        <p:spPr>
          <a:xfrm>
            <a:off x="4884058" y="3288082"/>
            <a:ext cx="1232134" cy="33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Alerting</a:t>
            </a:r>
          </a:p>
        </p:txBody>
      </p:sp>
    </p:spTree>
    <p:extLst>
      <p:ext uri="{BB962C8B-B14F-4D97-AF65-F5344CB8AC3E}">
        <p14:creationId xmlns:p14="http://schemas.microsoft.com/office/powerpoint/2010/main" val="221288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44FEEF5-EC02-1DEE-A6E8-CB28B984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7F4548B-C0C1-9124-2DDF-FB110B52A179}"/>
              </a:ext>
            </a:extLst>
          </p:cNvPr>
          <p:cNvSpPr/>
          <p:nvPr/>
        </p:nvSpPr>
        <p:spPr>
          <a:xfrm>
            <a:off x="870309" y="464944"/>
            <a:ext cx="370168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1F53151-E6CD-3958-4677-C18D207795B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11906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Pipeline ETL et stockage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A5B2C09-EB47-6C5B-6CF8-E2B9BE3E1B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C41CD27D-2FBD-3683-2A8B-C2193E20A59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1CD49A3-960C-9482-D982-1583B7066252}"/>
              </a:ext>
            </a:extLst>
          </p:cNvPr>
          <p:cNvSpPr txBox="1"/>
          <p:nvPr/>
        </p:nvSpPr>
        <p:spPr>
          <a:xfrm>
            <a:off x="382278" y="584699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des données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5B5E50-034B-4902-DE55-EE2E83513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14" y="1168080"/>
            <a:ext cx="7455249" cy="33570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9E50E1-6632-180F-794F-2A625E52819E}"/>
              </a:ext>
            </a:extLst>
          </p:cNvPr>
          <p:cNvSpPr/>
          <p:nvPr/>
        </p:nvSpPr>
        <p:spPr>
          <a:xfrm>
            <a:off x="1727201" y="3560988"/>
            <a:ext cx="3185885" cy="71900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90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B2BDDB4-FD1C-F3AA-714E-9ED9B8D8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EEBF5C5-E1C3-6EA3-4BD7-2C3F7F400508}"/>
              </a:ext>
            </a:extLst>
          </p:cNvPr>
          <p:cNvSpPr/>
          <p:nvPr/>
        </p:nvSpPr>
        <p:spPr>
          <a:xfrm>
            <a:off x="870309" y="464944"/>
            <a:ext cx="370168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12E85B2-B494-B91A-7882-2512AC4E4D5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11906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Pipeline ETL et stockage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882F8A6-EF85-F322-2750-492FD60D39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C8067647-4030-13F0-2EE1-5F00D0A6219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7F9D918-3D1F-8FD9-D7E4-691FC69F2B65}"/>
              </a:ext>
            </a:extLst>
          </p:cNvPr>
          <p:cNvSpPr txBox="1"/>
          <p:nvPr/>
        </p:nvSpPr>
        <p:spPr>
          <a:xfrm>
            <a:off x="382278" y="571251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Stockage des données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C58F3A-C023-8C8F-FB34-835A7E389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14" y="1121218"/>
            <a:ext cx="7663386" cy="34508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E91316-6078-D232-3FE8-66540A5253D4}"/>
              </a:ext>
            </a:extLst>
          </p:cNvPr>
          <p:cNvSpPr/>
          <p:nvPr/>
        </p:nvSpPr>
        <p:spPr>
          <a:xfrm>
            <a:off x="5006785" y="3649341"/>
            <a:ext cx="950686" cy="866798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5385490-C0B4-2C67-CE33-06D106DCD07A}"/>
              </a:ext>
            </a:extLst>
          </p:cNvPr>
          <p:cNvCxnSpPr>
            <a:cxnSpLocks/>
          </p:cNvCxnSpPr>
          <p:nvPr/>
        </p:nvCxnSpPr>
        <p:spPr>
          <a:xfrm flipH="1" flipV="1">
            <a:off x="6396589" y="3439376"/>
            <a:ext cx="715702" cy="364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C557D446-54DE-DB95-2938-7467F3E87179}"/>
              </a:ext>
            </a:extLst>
          </p:cNvPr>
          <p:cNvSpPr txBox="1"/>
          <p:nvPr/>
        </p:nvSpPr>
        <p:spPr>
          <a:xfrm>
            <a:off x="5623087" y="3191958"/>
            <a:ext cx="1233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Alerting</a:t>
            </a:r>
          </a:p>
        </p:txBody>
      </p:sp>
    </p:spTree>
    <p:extLst>
      <p:ext uri="{BB962C8B-B14F-4D97-AF65-F5344CB8AC3E}">
        <p14:creationId xmlns:p14="http://schemas.microsoft.com/office/powerpoint/2010/main" val="344959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48F82-D7C4-3335-49F8-793C5556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8623C181-9F44-8418-EB0C-77D1D0BAAFF7}"/>
              </a:ext>
            </a:extLst>
          </p:cNvPr>
          <p:cNvSpPr/>
          <p:nvPr/>
        </p:nvSpPr>
        <p:spPr>
          <a:xfrm>
            <a:off x="870309" y="464944"/>
            <a:ext cx="370168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BC86185-8D28-7447-726D-3C011520AF0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11906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Pipeline ETL et stockage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827FAED-440E-6E9A-1E1D-42F32A778E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77194FC7-AB65-02B2-DDDF-B7044CE04A5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53A9E83-4234-A680-F95F-CF845A90A0F8}"/>
              </a:ext>
            </a:extLst>
          </p:cNvPr>
          <p:cNvSpPr txBox="1"/>
          <p:nvPr/>
        </p:nvSpPr>
        <p:spPr>
          <a:xfrm>
            <a:off x="382278" y="571251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</a:t>
            </a:r>
            <a:r>
              <a:rPr lang="fr-FR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alerting</a:t>
            </a:r>
            <a:endParaRPr lang="fr-FR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C14414C-6D3B-EED3-79EE-D0F964D8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20" y="1116354"/>
            <a:ext cx="3719423" cy="356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76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584CAC8-6A45-F01C-768A-B5D4EA2B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A7F2A9AF-19D9-1ABB-1E4F-DA79A337C6F6}"/>
              </a:ext>
            </a:extLst>
          </p:cNvPr>
          <p:cNvSpPr/>
          <p:nvPr/>
        </p:nvSpPr>
        <p:spPr>
          <a:xfrm flipV="1">
            <a:off x="827983" y="2471051"/>
            <a:ext cx="4244759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58C68E9-7A05-E15A-FE60-5CA0EF3A744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62685" y="1733773"/>
            <a:ext cx="8103729" cy="758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Analyse des avis</a:t>
            </a:r>
            <a:endParaRPr sz="48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61B9FD2-3E74-FEB7-AC55-DBDE66AE17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366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4A5172C-4C37-EB11-B543-7E3C9D5D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25BC6B3-4ED7-0BFE-0070-7B1CB3AFFAAB}"/>
              </a:ext>
            </a:extLst>
          </p:cNvPr>
          <p:cNvSpPr/>
          <p:nvPr/>
        </p:nvSpPr>
        <p:spPr>
          <a:xfrm>
            <a:off x="5136738" y="2376840"/>
            <a:ext cx="2991913" cy="10156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80FA93D3-AD47-5BC1-697E-04075219331D}"/>
              </a:ext>
            </a:extLst>
          </p:cNvPr>
          <p:cNvSpPr/>
          <p:nvPr/>
        </p:nvSpPr>
        <p:spPr>
          <a:xfrm>
            <a:off x="870309" y="493972"/>
            <a:ext cx="2467977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A06BB4-DAC9-C4B7-8ECE-96337374671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Analyse des avis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C24E811-3A5E-D1C7-7751-2929A00020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3C20BCE-DCF5-DEB1-42CA-C5250AE25E9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0FBA783-2620-B044-7F4B-A5DBEABB4E97}"/>
              </a:ext>
            </a:extLst>
          </p:cNvPr>
          <p:cNvCxnSpPr/>
          <p:nvPr/>
        </p:nvCxnSpPr>
        <p:spPr>
          <a:xfrm>
            <a:off x="283434" y="2906442"/>
            <a:ext cx="11901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4B592B52-514D-5CD2-D168-2E0F1DCF9198}"/>
              </a:ext>
            </a:extLst>
          </p:cNvPr>
          <p:cNvSpPr txBox="1"/>
          <p:nvPr/>
        </p:nvSpPr>
        <p:spPr>
          <a:xfrm>
            <a:off x="280019" y="2665829"/>
            <a:ext cx="14568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Données Snowflake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9F21F2-3B7F-614C-25DE-22B58FD13A75}"/>
              </a:ext>
            </a:extLst>
          </p:cNvPr>
          <p:cNvSpPr/>
          <p:nvPr/>
        </p:nvSpPr>
        <p:spPr>
          <a:xfrm>
            <a:off x="1509758" y="2388830"/>
            <a:ext cx="2991913" cy="10156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E6705CD-5416-6E9D-30C1-92A35E224CE0}"/>
              </a:ext>
            </a:extLst>
          </p:cNvPr>
          <p:cNvSpPr txBox="1"/>
          <p:nvPr/>
        </p:nvSpPr>
        <p:spPr>
          <a:xfrm>
            <a:off x="384035" y="555973"/>
            <a:ext cx="4147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F1268AED-FCC7-587A-B087-CABA7A9E03A5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501671" y="2896661"/>
            <a:ext cx="615568" cy="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1A09F019-6756-0651-C200-6C62383E06D6}"/>
              </a:ext>
            </a:extLst>
          </p:cNvPr>
          <p:cNvSpPr txBox="1"/>
          <p:nvPr/>
        </p:nvSpPr>
        <p:spPr>
          <a:xfrm>
            <a:off x="5136738" y="2052511"/>
            <a:ext cx="2991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2060"/>
              </a:buClr>
            </a:pPr>
            <a:r>
              <a:rPr lang="fr-F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AA5447A-C1A7-419A-48D5-ABA6931CC2F4}"/>
              </a:ext>
            </a:extLst>
          </p:cNvPr>
          <p:cNvSpPr txBox="1"/>
          <p:nvPr/>
        </p:nvSpPr>
        <p:spPr>
          <a:xfrm>
            <a:off x="2186806" y="2082345"/>
            <a:ext cx="1662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2060"/>
              </a:buClr>
            </a:pPr>
            <a:r>
              <a:rPr lang="fr-F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Pondération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0BCBBF2-D0CA-D4A9-C15D-40EB723C196F}"/>
              </a:ext>
            </a:extLst>
          </p:cNvPr>
          <p:cNvSpPr txBox="1"/>
          <p:nvPr/>
        </p:nvSpPr>
        <p:spPr>
          <a:xfrm>
            <a:off x="2186806" y="2388830"/>
            <a:ext cx="2016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 Longueur du texte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 Sentiment (VADER)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Présence d’une image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 Note extrême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Achat vérifié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2230E35-5F6D-C5BF-9CE0-54685A1EFA98}"/>
              </a:ext>
            </a:extLst>
          </p:cNvPr>
          <p:cNvSpPr txBox="1"/>
          <p:nvPr/>
        </p:nvSpPr>
        <p:spPr>
          <a:xfrm>
            <a:off x="5136738" y="2409943"/>
            <a:ext cx="2991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Qualité ou satisfaction du produit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Défaut du produit ou article endommagé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 de livraison ou retard d'expédition</a:t>
            </a:r>
          </a:p>
          <a:p>
            <a:pPr>
              <a:buClr>
                <a:srgbClr val="002060"/>
              </a:buClr>
            </a:pPr>
            <a:r>
              <a:rPr lang="fr-FR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client ou assistance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06D92A06-768E-4527-8BDE-281FB15AE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220" y="1706012"/>
            <a:ext cx="857489" cy="857489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63974DE7-9241-6F88-A2B0-8A66AE043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706" y="1721746"/>
            <a:ext cx="857489" cy="85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18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025BD23-BEF8-7D55-53CB-636CE09F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BC8460B5-D8EA-9D26-2872-7D2CD7B0C440}"/>
              </a:ext>
            </a:extLst>
          </p:cNvPr>
          <p:cNvSpPr/>
          <p:nvPr/>
        </p:nvSpPr>
        <p:spPr>
          <a:xfrm>
            <a:off x="870309" y="493972"/>
            <a:ext cx="2467977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54A991F-6D10-A725-863F-59D83AFABC1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Analyse des avis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FBBB7B9A-5159-948E-B083-42A62AF6FD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6EBD2EC-34B8-6768-8170-C7AF005AF33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A418AA2-3833-2B8D-9AA3-035DEBF6F10F}"/>
              </a:ext>
            </a:extLst>
          </p:cNvPr>
          <p:cNvSpPr txBox="1"/>
          <p:nvPr/>
        </p:nvSpPr>
        <p:spPr>
          <a:xfrm>
            <a:off x="386020" y="571251"/>
            <a:ext cx="3336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choix du seuil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6B47D0D-8A6A-B93F-81BE-9678981D5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9" y="1171157"/>
            <a:ext cx="3021975" cy="190023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F432444-4CCF-A23A-35E6-7011EE8B8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592" y="1082503"/>
            <a:ext cx="3235379" cy="198373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A98D0F0-4319-9AD6-D66F-8E1BCFB03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189" y="3194596"/>
            <a:ext cx="598253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8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AA4DD25-2B8B-8B56-56B3-896B3344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D2D83EE-4872-F7B3-DFEF-CE62C9230923}"/>
              </a:ext>
            </a:extLst>
          </p:cNvPr>
          <p:cNvSpPr/>
          <p:nvPr/>
        </p:nvSpPr>
        <p:spPr>
          <a:xfrm>
            <a:off x="870309" y="493972"/>
            <a:ext cx="2467977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14D01FA-C992-769B-74B4-39F9400AB6A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Analyse des avis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26E47F63-FF31-3B24-F69C-060812FE06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B887973-EA1A-78AF-9826-1E3C23C7044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5E5A6C9-7AA4-8434-5D8D-48134841D209}"/>
              </a:ext>
            </a:extLst>
          </p:cNvPr>
          <p:cNvSpPr txBox="1"/>
          <p:nvPr/>
        </p:nvSpPr>
        <p:spPr>
          <a:xfrm>
            <a:off x="384035" y="614577"/>
            <a:ext cx="3938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fr-FR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endParaRPr lang="fr-FR" sz="1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9685DC-62C6-4B46-BD07-1A9BF6F29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187" y="668659"/>
            <a:ext cx="5115242" cy="22129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4F1BB41-F5F0-0DDD-9D67-C36196ED2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00" y="3268563"/>
            <a:ext cx="4370972" cy="141523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00186F-CBF7-3DE4-17D5-32CBE220D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4609" y="3268563"/>
            <a:ext cx="4408363" cy="15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06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CE4D872-B44B-F76E-D9BF-5995DA5C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C00A229-A9BF-E9C3-214A-2DD0DC0EDB1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62685" y="1733773"/>
            <a:ext cx="8103729" cy="758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Tests et validation</a:t>
            </a:r>
            <a:endParaRPr sz="48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2BF71D98-0827-D53F-77A5-6B295DB9F5B1}"/>
              </a:ext>
            </a:extLst>
          </p:cNvPr>
          <p:cNvSpPr/>
          <p:nvPr/>
        </p:nvSpPr>
        <p:spPr>
          <a:xfrm flipV="1">
            <a:off x="842497" y="2471050"/>
            <a:ext cx="4738246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3DB049D-0FE3-2101-4284-8C36712AA2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507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7EEE4AA-0F1C-1152-85FE-CD11D3E1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EE9AD35-E0BD-ED43-9E7D-C68547AA66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F2FAE28-DBFB-8847-EC51-4F769D3748C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AE0B64E1-2D61-4973-B83F-C3BE6A4813EE}"/>
              </a:ext>
            </a:extLst>
          </p:cNvPr>
          <p:cNvSpPr/>
          <p:nvPr/>
        </p:nvSpPr>
        <p:spPr>
          <a:xfrm flipV="1">
            <a:off x="870309" y="510662"/>
            <a:ext cx="2685691" cy="484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0751E78-F0EF-EF6E-7B56-201420A980D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Tests et validation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288BE09-3988-E88F-AB0A-09F86F23F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240125"/>
              </p:ext>
            </p:extLst>
          </p:nvPr>
        </p:nvGraphicFramePr>
        <p:xfrm>
          <a:off x="499351" y="767133"/>
          <a:ext cx="7874002" cy="34575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85145">
                  <a:extLst>
                    <a:ext uri="{9D8B030D-6E8A-4147-A177-3AD203B41FA5}">
                      <a16:colId xmlns:a16="http://schemas.microsoft.com/office/drawing/2014/main" val="2201064911"/>
                    </a:ext>
                  </a:extLst>
                </a:gridCol>
                <a:gridCol w="5188857">
                  <a:extLst>
                    <a:ext uri="{9D8B030D-6E8A-4147-A177-3AD203B41FA5}">
                      <a16:colId xmlns:a16="http://schemas.microsoft.com/office/drawing/2014/main" val="865669048"/>
                    </a:ext>
                  </a:extLst>
                </a:gridCol>
              </a:tblGrid>
              <a:tr h="381275">
                <a:tc>
                  <a:txBody>
                    <a:bodyPr/>
                    <a:lstStyle/>
                    <a:p>
                      <a:r>
                        <a:rPr lang="fr-FR" dirty="0"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794660"/>
                  </a:ext>
                </a:extLst>
              </a:tr>
              <a:tr h="38127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Tests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Test des fonctions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23168"/>
                  </a:ext>
                </a:extLst>
              </a:tr>
              <a:tr h="20996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Tests de qualité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Connexion aux bases de données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Description non nulle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Rating entre 1 à 5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Test prix &gt; 0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Présence de doublons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Test champs requis (</a:t>
                      </a:r>
                      <a:r>
                        <a:rPr lang="fr-FR" sz="1600" b="0" i="0" u="none" strike="noStrike" cap="none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review_id</a:t>
                      </a: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</a:t>
                      </a:r>
                      <a:r>
                        <a:rPr lang="fr-FR" sz="1600" b="0" i="0" u="none" strike="noStrike" cap="none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rating,buyer_id</a:t>
                      </a: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 Type de données cohérents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10307"/>
                  </a:ext>
                </a:extLst>
              </a:tr>
              <a:tr h="59541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Tests fonctionnels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Font typeface="Arial"/>
                      </a:pPr>
                      <a:r>
                        <a:rPr lang="fr-FR" sz="1600" b="0" i="0" u="none" strike="noStrike" cap="none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Exécution du code pour voir la performance et les coûts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156155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155067DB-1BB6-4411-F45D-CD4CFB02F808}"/>
              </a:ext>
            </a:extLst>
          </p:cNvPr>
          <p:cNvSpPr txBox="1"/>
          <p:nvPr/>
        </p:nvSpPr>
        <p:spPr>
          <a:xfrm>
            <a:off x="0" y="443278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Tous les tests ont été validés : approuvé pour une 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3901195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25E0D67-3C4B-8CFC-418A-D74C404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49AC6D0-FFD8-3D06-0BD4-57E918978FAE}"/>
              </a:ext>
            </a:extLst>
          </p:cNvPr>
          <p:cNvSpPr/>
          <p:nvPr/>
        </p:nvSpPr>
        <p:spPr>
          <a:xfrm flipV="1">
            <a:off x="1131712" y="2433233"/>
            <a:ext cx="2556885" cy="50495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65E19FA-61FE-8CF4-6DE8-B24DC7586B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Conclusion</a:t>
            </a:r>
            <a:endParaRPr sz="48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581B2FBE-5B70-159F-24A5-412C80000A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4367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06ECC40-522C-6E01-D7E4-3EBCCDEE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E8C9A70-6AA1-B61E-4EE7-1300111F8831}"/>
              </a:ext>
            </a:extLst>
          </p:cNvPr>
          <p:cNvSpPr/>
          <p:nvPr/>
        </p:nvSpPr>
        <p:spPr>
          <a:xfrm flipV="1">
            <a:off x="870310" y="503629"/>
            <a:ext cx="1387556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E7ACBEB-48D4-A356-A204-5CC00A20F54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latin typeface="Times New Roman" panose="02020603050405020304" pitchFamily="18" charset="0"/>
                <a:ea typeface="Inter SemiBold"/>
                <a:cs typeface="Times New Roman" panose="02020603050405020304" pitchFamily="18" charset="0"/>
                <a:sym typeface="Inter SemiBold"/>
              </a:rPr>
              <a:t>Conclusion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Inter SemiBold"/>
              <a:cs typeface="Times New Roman" panose="02020603050405020304" pitchFamily="18" charset="0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7BB35FF7-35A8-D115-2CBB-871CCAD24C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485DBDC-3B5D-5B6F-5E9E-6381D6434E2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7C9B85A-7388-C623-ACA0-13C49F795E15}"/>
              </a:ext>
            </a:extLst>
          </p:cNvPr>
          <p:cNvSpPr txBox="1"/>
          <p:nvPr/>
        </p:nvSpPr>
        <p:spPr>
          <a:xfrm>
            <a:off x="1402018" y="1950043"/>
            <a:ext cx="678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analytique prête à la 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1406419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984CCACF-C548-A4C1-141C-CA796564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>
            <a:extLst>
              <a:ext uri="{FF2B5EF4-FFF2-40B4-BE49-F238E27FC236}">
                <a16:creationId xmlns:a16="http://schemas.microsoft.com/office/drawing/2014/main" id="{AB8BD1DE-E06C-9540-3AA4-3E3CA6B099B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7"/>
            <a:ext cx="5315100" cy="114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 b="1" dirty="0">
                <a:solidFill>
                  <a:srgbClr val="0E3449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Merci !</a:t>
            </a:r>
            <a:endParaRPr sz="6000" b="1" dirty="0">
              <a:solidFill>
                <a:srgbClr val="0E3449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111" name="Google Shape;111;p19">
            <a:extLst>
              <a:ext uri="{FF2B5EF4-FFF2-40B4-BE49-F238E27FC236}">
                <a16:creationId xmlns:a16="http://schemas.microsoft.com/office/drawing/2014/main" id="{A3D31D61-4ED7-EF21-2F08-339C46B21C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E3A8B08-CB16-6313-39F1-FCDF14E147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5033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383</Words>
  <Application>Microsoft Office PowerPoint</Application>
  <PresentationFormat>Affichage à l'écran (16:9)</PresentationFormat>
  <Paragraphs>82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Wingdings</vt:lpstr>
      <vt:lpstr>Arial</vt:lpstr>
      <vt:lpstr>Aptos</vt:lpstr>
      <vt:lpstr>Times New Roman</vt:lpstr>
      <vt:lpstr>Simple Light</vt:lpstr>
      <vt:lpstr>Amazon Review Analysis</vt:lpstr>
      <vt:lpstr>Bloc 2</vt:lpstr>
      <vt:lpstr>Plan</vt:lpstr>
      <vt:lpstr>Contexte et objectifs du projet</vt:lpstr>
      <vt:lpstr>Contexte et objectifs du projet</vt:lpstr>
      <vt:lpstr>Architecture globale</vt:lpstr>
      <vt:lpstr>Architecture globale</vt:lpstr>
      <vt:lpstr>Pipeline ETL et stockage</vt:lpstr>
      <vt:lpstr>Pipeline ETL et stockage</vt:lpstr>
      <vt:lpstr>Pipeline ETL et stockage</vt:lpstr>
      <vt:lpstr>Pipeline ETL et stockage</vt:lpstr>
      <vt:lpstr>Pipeline ETL et stockage</vt:lpstr>
      <vt:lpstr>Pipeline ETL et stockage</vt:lpstr>
      <vt:lpstr>Analyse des avis</vt:lpstr>
      <vt:lpstr>Analyse des avis</vt:lpstr>
      <vt:lpstr>Analyse des avis</vt:lpstr>
      <vt:lpstr>Analyse des avis</vt:lpstr>
      <vt:lpstr>Tests et validation</vt:lpstr>
      <vt:lpstr>Tests et validation</vt:lpstr>
      <vt:lpstr>Conclusion</vt:lpstr>
      <vt:lpstr>Conclusion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Dyhia TOUAHRI</cp:lastModifiedBy>
  <cp:revision>123</cp:revision>
  <dcterms:modified xsi:type="dcterms:W3CDTF">2025-12-13T22:30:20Z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3e49bf-5c7f-4a8a-bbbc-7213e78f5e38_Enabled">
    <vt:lpwstr>true</vt:lpwstr>
  </property>
  <property fmtid="{D5CDD505-2E9C-101B-9397-08002B2CF9AE}" pid="3" name="MSIP_Label_663e49bf-5c7f-4a8a-bbbc-7213e78f5e38_SetDate">
    <vt:lpwstr>2025-11-02T15:19:33Z</vt:lpwstr>
  </property>
  <property fmtid="{D5CDD505-2E9C-101B-9397-08002B2CF9AE}" pid="4" name="MSIP_Label_663e49bf-5c7f-4a8a-bbbc-7213e78f5e38_Method">
    <vt:lpwstr>Standard</vt:lpwstr>
  </property>
  <property fmtid="{D5CDD505-2E9C-101B-9397-08002B2CF9AE}" pid="5" name="MSIP_Label_663e49bf-5c7f-4a8a-bbbc-7213e78f5e38_Name">
    <vt:lpwstr>C2 - Information à diffusion restreinte</vt:lpwstr>
  </property>
  <property fmtid="{D5CDD505-2E9C-101B-9397-08002B2CF9AE}" pid="6" name="MSIP_Label_663e49bf-5c7f-4a8a-bbbc-7213e78f5e38_SiteId">
    <vt:lpwstr>039c67fe-49fc-42f3-a2a4-0a85eee29a7d</vt:lpwstr>
  </property>
  <property fmtid="{D5CDD505-2E9C-101B-9397-08002B2CF9AE}" pid="7" name="MSIP_Label_663e49bf-5c7f-4a8a-bbbc-7213e78f5e38_ActionId">
    <vt:lpwstr>b6ce385c-0787-42fc-aa71-7b33b4b295e4</vt:lpwstr>
  </property>
  <property fmtid="{D5CDD505-2E9C-101B-9397-08002B2CF9AE}" pid="8" name="MSIP_Label_663e49bf-5c7f-4a8a-bbbc-7213e78f5e38_ContentBits">
    <vt:lpwstr>2</vt:lpwstr>
  </property>
  <property fmtid="{D5CDD505-2E9C-101B-9397-08002B2CF9AE}" pid="9" name="MSIP_Label_663e49bf-5c7f-4a8a-bbbc-7213e78f5e38_Tag">
    <vt:lpwstr>10, 3, 0, 1</vt:lpwstr>
  </property>
  <property fmtid="{D5CDD505-2E9C-101B-9397-08002B2CF9AE}" pid="10" name="ClassificationContentMarkingFooterLocations">
    <vt:lpwstr>Simple Light:3</vt:lpwstr>
  </property>
  <property fmtid="{D5CDD505-2E9C-101B-9397-08002B2CF9AE}" pid="11" name="ClassificationContentMarkingFooterText">
    <vt:lpwstr>C2 - Interne</vt:lpwstr>
  </property>
</Properties>
</file>