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8" r:id="rId3"/>
    <p:sldId id="264" r:id="rId4"/>
    <p:sldId id="301" r:id="rId5"/>
    <p:sldId id="270" r:id="rId6"/>
    <p:sldId id="269" r:id="rId7"/>
    <p:sldId id="284" r:id="rId8"/>
    <p:sldId id="272" r:id="rId9"/>
    <p:sldId id="288" r:id="rId10"/>
    <p:sldId id="292" r:id="rId11"/>
    <p:sldId id="293" r:id="rId12"/>
    <p:sldId id="300" r:id="rId13"/>
    <p:sldId id="276" r:id="rId14"/>
    <p:sldId id="279" r:id="rId15"/>
    <p:sldId id="262" r:id="rId16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  <p:bold r:id="rId23"/>
    </p:embeddedFont>
    <p:embeddedFont>
      <p:font typeface="Inter Medium" panose="020B0604020202020204" charset="0"/>
      <p:regular r:id="rId24"/>
      <p:bold r:id="rId25"/>
    </p:embeddedFont>
    <p:embeddedFont>
      <p:font typeface="Inter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75" d="100"/>
          <a:sy n="275" d="100"/>
        </p:scale>
        <p:origin x="-2772" y="-4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5C34A2CE-2497-F3ED-3404-D5C29333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F6BFA3EA-EBF6-0118-F30E-DE06C2562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C2C745CE-3663-A8B6-DCA0-1BD7ABDAE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876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037B762-58FB-3065-2171-E49E2B37B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2355F551-6693-4E4E-47E7-CFCC8F65DE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0BF73144-F1DD-C6BE-56C1-A6DF462B72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SWOT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3640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30EC97B-E4C8-6EEC-54A7-4E7F6240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8289B2D-4B36-8610-71AF-9782C1F65C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F457678-E85C-3743-3656-B0C11CCAD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SWOT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2486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4E7ACE8-7EF0-3D49-F2DE-2F55EEA7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84DF97BE-BC2C-5391-0C43-C69F868B03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C0858D6A-705A-BE4C-81DE-07BDE410F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7975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AD0D633-66D8-CB87-FA86-097AC545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6DBC0D69-F17D-B095-2CF4-C4F27A0BD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3F6464F7-08BB-4ABD-264F-1B5499DF96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r>
              <a:rPr lang="fr-FR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620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D92E67D-74EE-16DB-11C3-83A9EE0C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DC65A041-927B-0E57-0974-C3E964DA3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D3C7159C-3E9B-C061-E5CD-828C15467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651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0E029E3-6B3D-68EC-FD1F-5D3CD040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D68D9E32-C22E-7C5D-6F67-82D5BC90F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DEE95672-A4E9-0E41-A4C5-151BF0CF9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r>
              <a:rPr lang="fr-FR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2622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E5EE0868-A6CA-287F-CA58-11E93C172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763A0A53-7AD3-B4AC-6776-A4299F9E4B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69E67949-99B8-DC2B-48D3-84639AD11F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0288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9A8C55D-0122-96ED-C48E-F0A116415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2D5E5CFE-41D2-B5DE-2439-B59BC6478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EBC7D945-875B-E987-6115-4FDC621E2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r>
              <a:rPr lang="fr-FR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0938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137F17A-0B74-B01A-82C3-4471E09E9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5D92C246-0BCE-C4C4-9DAE-07D648180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C8DD2927-2E58-049D-5FA8-CD090A1B0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r>
              <a:rPr lang="fr-FR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92736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8461B9B-63A8-424E-2607-346598F4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3000516A-F476-70BE-5AA6-64117F509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A70E6C2D-F23F-8AB3-9EE0-679DE68A2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977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4A3DEA2-B394-0C40-49AD-1915891F8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69E17FED-7449-0E63-99A3-1BA965A1CC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0A98F42-E879-F331-ED75-442E064D19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112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494B73D-D23B-9D61-DB75-98B600FBAC2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52087" y="4927600"/>
            <a:ext cx="665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A8A8A8">
                    <a:alpha val="50000"/>
                  </a:srgbClr>
                </a:solidFill>
                <a:latin typeface="Aptos" panose="020B0004020202020204" pitchFamily="34" charset="0"/>
              </a:rPr>
              <a:t>C2 - Interne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1391" y="1562581"/>
            <a:ext cx="9091961" cy="1194782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</a:t>
            </a:r>
            <a:r>
              <a:rPr lang="fr-FR" sz="40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</a:t>
            </a:r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40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sz="4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451" y="2760392"/>
            <a:ext cx="3405549" cy="238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0" y="1537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0" y="4059044"/>
            <a:ext cx="2548800" cy="8245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Dyhia TOUAHRI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sym typeface="Inter Medium"/>
            </a:endParaRP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D7A73CF2-6999-621A-BC04-F15157F7B146}"/>
              </a:ext>
            </a:extLst>
          </p:cNvPr>
          <p:cNvSpPr txBox="1">
            <a:spLocks/>
          </p:cNvSpPr>
          <p:nvPr/>
        </p:nvSpPr>
        <p:spPr>
          <a:xfrm>
            <a:off x="0" y="4816800"/>
            <a:ext cx="2361600" cy="32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1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17 décembre 2025</a:t>
            </a:r>
            <a:endParaRPr lang="fr-FR" sz="1100" dirty="0">
              <a:solidFill>
                <a:srgbClr val="002060"/>
              </a:solidFill>
              <a:latin typeface="Inter Medium"/>
              <a:ea typeface="Inter Medium"/>
              <a:sym typeface="Inter Medium"/>
            </a:endParaRPr>
          </a:p>
        </p:txBody>
      </p:sp>
      <p:pic>
        <p:nvPicPr>
          <p:cNvPr id="4" name="Image 3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DFFCABE3-530E-7BAC-2ECD-78E65B8D11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181" y="-12837"/>
            <a:ext cx="618532" cy="618532"/>
          </a:xfrm>
          <a:prstGeom prst="rect">
            <a:avLst/>
          </a:prstGeom>
        </p:spPr>
      </p:pic>
      <p:pic>
        <p:nvPicPr>
          <p:cNvPr id="6" name="Image 5" descr="Une image contenant Police, Graphique, logo, symbole&#10;&#10;Le contenu généré par l’IA peut être incorrect.">
            <a:extLst>
              <a:ext uri="{FF2B5EF4-FFF2-40B4-BE49-F238E27FC236}">
                <a16:creationId xmlns:a16="http://schemas.microsoft.com/office/drawing/2014/main" id="{2E33807E-2F76-0FD4-AC8E-32558EAB29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8019" y="549220"/>
            <a:ext cx="618531" cy="222043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CBADACA1-7A57-6DAC-C6D9-7615452FEE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12926" y="660241"/>
            <a:ext cx="2644045" cy="798037"/>
          </a:xfrm>
          <a:prstGeom prst="rect">
            <a:avLst/>
          </a:prstGeom>
        </p:spPr>
      </p:pic>
      <p:pic>
        <p:nvPicPr>
          <p:cNvPr id="5" name="Image 4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83782C4E-A086-8C3B-4521-B9A5CC4476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2051" y="121087"/>
            <a:ext cx="528999" cy="316508"/>
          </a:xfrm>
          <a:prstGeom prst="rect">
            <a:avLst/>
          </a:prstGeom>
        </p:spPr>
      </p:pic>
      <p:sp>
        <p:nvSpPr>
          <p:cNvPr id="3" name="Google Shape;57;p13">
            <a:extLst>
              <a:ext uri="{FF2B5EF4-FFF2-40B4-BE49-F238E27FC236}">
                <a16:creationId xmlns:a16="http://schemas.microsoft.com/office/drawing/2014/main" id="{8E459595-1923-D54F-582B-8ED9FB5235FC}"/>
              </a:ext>
            </a:extLst>
          </p:cNvPr>
          <p:cNvSpPr txBox="1">
            <a:spLocks/>
          </p:cNvSpPr>
          <p:nvPr/>
        </p:nvSpPr>
        <p:spPr>
          <a:xfrm>
            <a:off x="4131286" y="2547850"/>
            <a:ext cx="1007326" cy="41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4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Phase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1326930" y="63940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Acteurs du projet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0" name="Google Shape;70;p15"/>
          <p:cNvSpPr/>
          <p:nvPr/>
        </p:nvSpPr>
        <p:spPr>
          <a:xfrm rot="-355994">
            <a:off x="989418" y="23653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ctrTitle" idx="4294967295"/>
          </p:nvPr>
        </p:nvSpPr>
        <p:spPr>
          <a:xfrm>
            <a:off x="1326930" y="265528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Registre des risques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2" name="Google Shape;72;p15"/>
          <p:cNvSpPr/>
          <p:nvPr/>
        </p:nvSpPr>
        <p:spPr>
          <a:xfrm rot="-355994">
            <a:off x="989418" y="28984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ctrTitle" idx="4294967295"/>
          </p:nvPr>
        </p:nvSpPr>
        <p:spPr>
          <a:xfrm>
            <a:off x="1326930" y="318838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Clauses contractuelles et contraintes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4" name="Google Shape;74;p15"/>
          <p:cNvSpPr/>
          <p:nvPr/>
        </p:nvSpPr>
        <p:spPr>
          <a:xfrm rot="-355994">
            <a:off x="989418" y="34315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0;p15">
            <a:extLst>
              <a:ext uri="{FF2B5EF4-FFF2-40B4-BE49-F238E27FC236}">
                <a16:creationId xmlns:a16="http://schemas.microsoft.com/office/drawing/2014/main" id="{B337A37D-EB88-9CFF-4A9D-88DED995229B}"/>
              </a:ext>
            </a:extLst>
          </p:cNvPr>
          <p:cNvSpPr/>
          <p:nvPr/>
        </p:nvSpPr>
        <p:spPr>
          <a:xfrm rot="-355994">
            <a:off x="989417" y="88258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90462975-A40B-4D59-119D-DEEF2BA24BAA}"/>
              </a:ext>
            </a:extLst>
          </p:cNvPr>
          <p:cNvSpPr/>
          <p:nvPr/>
        </p:nvSpPr>
        <p:spPr>
          <a:xfrm rot="-355994">
            <a:off x="989417" y="141568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4;p15">
            <a:extLst>
              <a:ext uri="{FF2B5EF4-FFF2-40B4-BE49-F238E27FC236}">
                <a16:creationId xmlns:a16="http://schemas.microsoft.com/office/drawing/2014/main" id="{A0DFFD73-535B-23DC-1DA1-5EE90DE8E2D2}"/>
              </a:ext>
            </a:extLst>
          </p:cNvPr>
          <p:cNvSpPr/>
          <p:nvPr/>
        </p:nvSpPr>
        <p:spPr>
          <a:xfrm rot="-355994">
            <a:off x="989419" y="39646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9;p15">
            <a:extLst>
              <a:ext uri="{FF2B5EF4-FFF2-40B4-BE49-F238E27FC236}">
                <a16:creationId xmlns:a16="http://schemas.microsoft.com/office/drawing/2014/main" id="{2A635064-37F8-412D-9D79-B4CBA291B731}"/>
              </a:ext>
            </a:extLst>
          </p:cNvPr>
          <p:cNvSpPr txBox="1">
            <a:spLocks/>
          </p:cNvSpPr>
          <p:nvPr/>
        </p:nvSpPr>
        <p:spPr>
          <a:xfrm>
            <a:off x="1326930" y="1172505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Planning Gantt</a:t>
            </a:r>
          </a:p>
        </p:txBody>
      </p:sp>
      <p:sp>
        <p:nvSpPr>
          <p:cNvPr id="6" name="Google Shape;69;p15">
            <a:extLst>
              <a:ext uri="{FF2B5EF4-FFF2-40B4-BE49-F238E27FC236}">
                <a16:creationId xmlns:a16="http://schemas.microsoft.com/office/drawing/2014/main" id="{A631BA53-0717-3D98-FCBC-4980A1C8985E}"/>
              </a:ext>
            </a:extLst>
          </p:cNvPr>
          <p:cNvSpPr txBox="1">
            <a:spLocks/>
          </p:cNvSpPr>
          <p:nvPr/>
        </p:nvSpPr>
        <p:spPr>
          <a:xfrm>
            <a:off x="1326930" y="2122207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Coûts</a:t>
            </a:r>
          </a:p>
        </p:txBody>
      </p:sp>
      <p:sp>
        <p:nvSpPr>
          <p:cNvPr id="7" name="Google Shape;73;p15">
            <a:extLst>
              <a:ext uri="{FF2B5EF4-FFF2-40B4-BE49-F238E27FC236}">
                <a16:creationId xmlns:a16="http://schemas.microsoft.com/office/drawing/2014/main" id="{B33B36B4-3FEF-C050-3A24-8AD4ED568CB6}"/>
              </a:ext>
            </a:extLst>
          </p:cNvPr>
          <p:cNvSpPr txBox="1">
            <a:spLocks/>
          </p:cNvSpPr>
          <p:nvPr/>
        </p:nvSpPr>
        <p:spPr>
          <a:xfrm>
            <a:off x="1326930" y="3721461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fr-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Suivi RH</a:t>
            </a:r>
          </a:p>
        </p:txBody>
      </p:sp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1141846A-FB1B-34E8-F60D-E6F0C134757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5C5996A2-7B03-00FB-8158-30D3B101A6E9}"/>
              </a:ext>
            </a:extLst>
          </p:cNvPr>
          <p:cNvSpPr/>
          <p:nvPr/>
        </p:nvSpPr>
        <p:spPr>
          <a:xfrm rot="-355994">
            <a:off x="989416" y="189053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69;p15">
            <a:extLst>
              <a:ext uri="{FF2B5EF4-FFF2-40B4-BE49-F238E27FC236}">
                <a16:creationId xmlns:a16="http://schemas.microsoft.com/office/drawing/2014/main" id="{91C59234-5752-E05F-3399-5B7011CABA93}"/>
              </a:ext>
            </a:extLst>
          </p:cNvPr>
          <p:cNvSpPr txBox="1">
            <a:spLocks/>
          </p:cNvSpPr>
          <p:nvPr/>
        </p:nvSpPr>
        <p:spPr>
          <a:xfrm>
            <a:off x="1326929" y="1647356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Matrice RACI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C9650325-D0F1-DAE6-D75F-EE8F6F77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85B00054-1755-8345-C73C-314D154E9703}"/>
              </a:ext>
            </a:extLst>
          </p:cNvPr>
          <p:cNvSpPr/>
          <p:nvPr/>
        </p:nvSpPr>
        <p:spPr>
          <a:xfrm>
            <a:off x="2029691" y="2387182"/>
            <a:ext cx="5299364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5332E44-E88D-8B52-1CDF-8923630613C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0" y="1717619"/>
            <a:ext cx="9144000" cy="1166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Acteurs du projet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A221F4FC-0735-A085-E35E-8F8283A0EA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789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0FBFCF2-B566-32FE-9414-82713D67B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A541D88E-2D2F-AD01-D8F8-DE32486B469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Acteurs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8520F0D5-8A61-F636-3F3C-66C2A1F840E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76;p15">
            <a:extLst>
              <a:ext uri="{FF2B5EF4-FFF2-40B4-BE49-F238E27FC236}">
                <a16:creationId xmlns:a16="http://schemas.microsoft.com/office/drawing/2014/main" id="{9F7F26B3-C306-01C5-92FB-D826E57FECA3}"/>
              </a:ext>
            </a:extLst>
          </p:cNvPr>
          <p:cNvSpPr/>
          <p:nvPr/>
        </p:nvSpPr>
        <p:spPr>
          <a:xfrm>
            <a:off x="870310" y="438274"/>
            <a:ext cx="1270218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76;p15">
            <a:extLst>
              <a:ext uri="{FF2B5EF4-FFF2-40B4-BE49-F238E27FC236}">
                <a16:creationId xmlns:a16="http://schemas.microsoft.com/office/drawing/2014/main" id="{E8CEC8E2-B5BB-088A-4E3F-051FBDDA6CAB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B192115-AB1A-10F2-F1B4-511669068BDB}"/>
              </a:ext>
            </a:extLst>
          </p:cNvPr>
          <p:cNvSpPr txBox="1"/>
          <p:nvPr/>
        </p:nvSpPr>
        <p:spPr>
          <a:xfrm>
            <a:off x="533400" y="896293"/>
            <a:ext cx="7072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002060"/>
                </a:solidFill>
              </a:rPr>
              <a:t>Méthodologie de travail : Scrum</a:t>
            </a:r>
          </a:p>
        </p:txBody>
      </p:sp>
    </p:spTree>
    <p:extLst>
      <p:ext uri="{BB962C8B-B14F-4D97-AF65-F5344CB8AC3E}">
        <p14:creationId xmlns:p14="http://schemas.microsoft.com/office/powerpoint/2010/main" val="164739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BD0DDF8-3FF6-BC7F-ECE2-FE9969FFA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33FFFE1-6EF2-EE31-553D-B6998730BA3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Acteurs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1F3895AE-DC28-A69F-23F1-1C1EB7C676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76;p15">
            <a:extLst>
              <a:ext uri="{FF2B5EF4-FFF2-40B4-BE49-F238E27FC236}">
                <a16:creationId xmlns:a16="http://schemas.microsoft.com/office/drawing/2014/main" id="{50449A64-0D8E-841E-6A98-B6073BFAE239}"/>
              </a:ext>
            </a:extLst>
          </p:cNvPr>
          <p:cNvSpPr/>
          <p:nvPr/>
        </p:nvSpPr>
        <p:spPr>
          <a:xfrm>
            <a:off x="870310" y="438274"/>
            <a:ext cx="1270218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76;p15">
            <a:extLst>
              <a:ext uri="{FF2B5EF4-FFF2-40B4-BE49-F238E27FC236}">
                <a16:creationId xmlns:a16="http://schemas.microsoft.com/office/drawing/2014/main" id="{5907DFD9-CEE2-ABBB-EC31-94638272F36A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5B9210D8-31EC-DE32-4212-E5BB40D45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937560"/>
              </p:ext>
            </p:extLst>
          </p:nvPr>
        </p:nvGraphicFramePr>
        <p:xfrm>
          <a:off x="1505419" y="774875"/>
          <a:ext cx="6386945" cy="3898674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1207301">
                  <a:extLst>
                    <a:ext uri="{9D8B030D-6E8A-4147-A177-3AD203B41FA5}">
                      <a16:colId xmlns:a16="http://schemas.microsoft.com/office/drawing/2014/main" val="3186014720"/>
                    </a:ext>
                  </a:extLst>
                </a:gridCol>
                <a:gridCol w="1823258">
                  <a:extLst>
                    <a:ext uri="{9D8B030D-6E8A-4147-A177-3AD203B41FA5}">
                      <a16:colId xmlns:a16="http://schemas.microsoft.com/office/drawing/2014/main" val="443300097"/>
                    </a:ext>
                  </a:extLst>
                </a:gridCol>
                <a:gridCol w="3356386">
                  <a:extLst>
                    <a:ext uri="{9D8B030D-6E8A-4147-A177-3AD203B41FA5}">
                      <a16:colId xmlns:a16="http://schemas.microsoft.com/office/drawing/2014/main" val="4261014872"/>
                    </a:ext>
                  </a:extLst>
                </a:gridCol>
              </a:tblGrid>
              <a:tr h="2566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Rôle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Compétences clés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Missions principales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 anchor="ctr"/>
                </a:tc>
                <a:extLst>
                  <a:ext uri="{0D108BD9-81ED-4DB2-BD59-A6C34878D82A}">
                    <a16:rowId xmlns:a16="http://schemas.microsoft.com/office/drawing/2014/main" val="3350199932"/>
                  </a:ext>
                </a:extLst>
              </a:tr>
              <a:tr h="2130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Sponsor (Amazon – Direction)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Vision stratégique, arbitrage, gouvernance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Valide les grandes orientations, le budget et les jalons majeurs du projet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2665308695"/>
                  </a:ext>
                </a:extLst>
              </a:tr>
              <a:tr h="2313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00" dirty="0">
                          <a:solidFill>
                            <a:schemeClr val="tx1"/>
                          </a:solidFill>
                          <a:effectLst/>
                        </a:rPr>
                        <a:t>Client métier : Business Analysts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Analyse métier, expression de besoin, compréhension des enjeux business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Fournissent les besoins fonctionnels, valident les livrables, utilisent les dashboards en production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4254307411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Project Manager (Chef de projet)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Organisation, planification, suivi budgétaire, coordination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Pilote l’ensemble du projet, planifie les activités, coordonne les équipes, anime les réunions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3753318827"/>
                  </a:ext>
                </a:extLst>
              </a:tr>
              <a:tr h="2424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Product </a:t>
                      </a:r>
                      <a:r>
                        <a:rPr lang="fr-FR" sz="500" dirty="0" err="1">
                          <a:solidFill>
                            <a:schemeClr val="tx1"/>
                          </a:solidFill>
                          <a:effectLst/>
                        </a:rPr>
                        <a:t>Owner</a:t>
                      </a: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 (PO)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Vision produit, priorisation, rédaction de user stories, gestion du backlog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Porte la vision produit, priorise le backlog, rédige les user stories, valide fonctionnellement les livrables et fait le lien entre le métier et la technique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1104925806"/>
                  </a:ext>
                </a:extLst>
              </a:tr>
              <a:tr h="2493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Scrum Master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Méthodes Agile, facilitation, gestion des rituels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Organise les sprints, anime les cérémonies (daily, sprint planning, rétrospective), supprime les obstacles et protège l’équipe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65109494"/>
                  </a:ext>
                </a:extLst>
              </a:tr>
              <a:tr h="1801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Data Architect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Architecture data, cloud (AWS), modélisation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00">
                          <a:solidFill>
                            <a:schemeClr val="tx1"/>
                          </a:solidFill>
                          <a:effectLst/>
                        </a:rPr>
                        <a:t>Conçoit l’architecture globale (PostgreSQL – S3 – ETL – MongoDB – Snowflake – BI)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1912052419"/>
                  </a:ext>
                </a:extLst>
              </a:tr>
              <a:tr h="2424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Tech Lead Data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Expertise data, leadership technique, reviews de code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Définit les choix techniques, supervise la qualité du code, accompagne les Data Engineers et valide l’implémentation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851892922"/>
                  </a:ext>
                </a:extLst>
              </a:tr>
              <a:tr h="2355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fr-FR" sz="500" dirty="0" err="1">
                          <a:solidFill>
                            <a:schemeClr val="tx1"/>
                          </a:solidFill>
                          <a:effectLst/>
                        </a:rPr>
                        <a:t>Engineers</a:t>
                      </a: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 (x2)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00">
                          <a:solidFill>
                            <a:schemeClr val="tx1"/>
                          </a:solidFill>
                          <a:effectLst/>
                        </a:rPr>
                        <a:t>Python, ETL, Snowflake, AWS, SQL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Développent les pipelines ETL, gèrent l’ingestion, le nettoyage et le chargement dans Snowflake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3586574766"/>
                  </a:ext>
                </a:extLst>
              </a:tr>
              <a:tr h="2795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Data Scientist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500">
                          <a:solidFill>
                            <a:schemeClr val="tx1"/>
                          </a:solidFill>
                          <a:effectLst/>
                        </a:rPr>
                        <a:t>IA, NLP, machine learning, scoring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Conçoit et implémente l’algorithme zéro et l’algorithme de pondération pour classifier et scorer les avis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2324244263"/>
                  </a:ext>
                </a:extLst>
              </a:tr>
              <a:tr h="2795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DevOps Engineer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CI/CD, sécurité, Docker, AWS, monitoring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Met en place l’infrastructure, automatise les déploiements, gère la sécurité et la supervision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2515437107"/>
                  </a:ext>
                </a:extLst>
              </a:tr>
              <a:tr h="2795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QA / Data </a:t>
                      </a:r>
                      <a:r>
                        <a:rPr lang="fr-FR" sz="500" dirty="0" err="1">
                          <a:solidFill>
                            <a:schemeClr val="tx1"/>
                          </a:solidFill>
                          <a:effectLst/>
                        </a:rPr>
                        <a:t>Quality</a:t>
                      </a: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500" dirty="0" err="1">
                          <a:solidFill>
                            <a:schemeClr val="tx1"/>
                          </a:solidFill>
                          <a:effectLst/>
                        </a:rPr>
                        <a:t>Analyst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Contrôle qualité, tests, validation des données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Vérifie la qualité des données, le respect des règles métier et la conformité des résultats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2657939002"/>
                  </a:ext>
                </a:extLst>
              </a:tr>
              <a:tr h="2795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Security /</a:t>
                      </a:r>
                      <a:b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Compliance </a:t>
                      </a:r>
                      <a:r>
                        <a:rPr lang="fr-FR" sz="500" dirty="0" err="1">
                          <a:solidFill>
                            <a:schemeClr val="tx1"/>
                          </a:solidFill>
                          <a:effectLst/>
                        </a:rPr>
                        <a:t>Officer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Sécurité des données, RGPD, conformité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Vérifie la protection des données, les accès, la conformité légale (RGPD, sécurité cloud)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2867666738"/>
                  </a:ext>
                </a:extLst>
              </a:tr>
              <a:tr h="2795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Change Manager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Communication, conduite du changement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Accompagne l’adoption de la solution par les Business Analysts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1840948043"/>
                  </a:ext>
                </a:extLst>
              </a:tr>
              <a:tr h="1836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Formateur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Pédagogie, communication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Conçoit les supports et forme les utilisateurs métiers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956637514"/>
                  </a:ext>
                </a:extLst>
              </a:tr>
              <a:tr h="2610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Support Client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>
                          <a:solidFill>
                            <a:schemeClr val="tx1"/>
                          </a:solidFill>
                          <a:effectLst/>
                        </a:rPr>
                        <a:t>Support technique et fonctionnel</a:t>
                      </a:r>
                      <a:endParaRPr lang="fr-FR" sz="50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500" dirty="0">
                          <a:solidFill>
                            <a:schemeClr val="tx1"/>
                          </a:solidFill>
                          <a:effectLst/>
                        </a:rPr>
                        <a:t>Assure la maintenance, gère les incidents et accompagne les utilisateurs après la mise en production</a:t>
                      </a:r>
                      <a:endParaRPr lang="fr-FR" sz="5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9055" marR="19055" marT="0" marB="0"/>
                </a:tc>
                <a:extLst>
                  <a:ext uri="{0D108BD9-81ED-4DB2-BD59-A6C34878D82A}">
                    <a16:rowId xmlns:a16="http://schemas.microsoft.com/office/drawing/2014/main" val="2796932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012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74B9C5F7-DE9C-A314-4F94-2DF56087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C95A891C-B11B-0BE7-BDC7-93EAF232464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0" y="1680117"/>
            <a:ext cx="9143999" cy="8916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Planning Gantt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71C210E3-BB92-B68A-42EF-1BDE04DF17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1FB858E7-EDC4-58C8-9625-F47376D5C0A5}"/>
              </a:ext>
            </a:extLst>
          </p:cNvPr>
          <p:cNvSpPr/>
          <p:nvPr/>
        </p:nvSpPr>
        <p:spPr>
          <a:xfrm flipV="1">
            <a:off x="2438400" y="2369126"/>
            <a:ext cx="4287982" cy="63507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62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EB1B7CF1-2FAC-EEB8-5D45-A3B04FCD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320CA5FA-4F77-5A2F-8F0F-D3695DDA9D0A}"/>
              </a:ext>
            </a:extLst>
          </p:cNvPr>
          <p:cNvSpPr/>
          <p:nvPr/>
        </p:nvSpPr>
        <p:spPr>
          <a:xfrm flipV="1">
            <a:off x="863383" y="464945"/>
            <a:ext cx="2288526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F88A28A-A483-E9B2-2126-DE115A729C7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Planning gantt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ED64B762-FF8D-FB2D-97F6-180A61E72F2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42433CFD-D0A3-5D94-691F-B66E5B7E137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 2" descr="Une image contenant texte, lign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3510AC17-5759-2AC2-7B04-4479BA1EA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85" y="1227504"/>
            <a:ext cx="7915954" cy="282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96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543DF87-FD0E-2544-E53D-441F7951F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95F103A1-A56B-659A-E955-F649457DD65F}"/>
              </a:ext>
            </a:extLst>
          </p:cNvPr>
          <p:cNvSpPr/>
          <p:nvPr/>
        </p:nvSpPr>
        <p:spPr>
          <a:xfrm flipV="1">
            <a:off x="2207941" y="2386914"/>
            <a:ext cx="4735552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F4BAE00C-0122-3E2C-EE1B-3F554198EAE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0" y="1702750"/>
            <a:ext cx="9144000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Matrice RACI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FD0C5D4C-B3DD-41E6-31E4-E41D56B91A2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01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95FE2B8-A12A-0189-346E-A22663E4A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CE535C44-40A4-7206-A53E-38D8F81B3544}"/>
              </a:ext>
            </a:extLst>
          </p:cNvPr>
          <p:cNvSpPr/>
          <p:nvPr/>
        </p:nvSpPr>
        <p:spPr>
          <a:xfrm>
            <a:off x="870309" y="438274"/>
            <a:ext cx="2601437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C1A96198-D7C5-42E7-E83D-D2A03063ADA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Matrice RACI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DF3FAA9C-DAAD-CBFD-3511-11B540A4A6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2845E6D-59DD-AF6F-AD65-092785298C53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E004D782-56CC-E18A-7435-48B4A0383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367490"/>
              </p:ext>
            </p:extLst>
          </p:nvPr>
        </p:nvGraphicFramePr>
        <p:xfrm>
          <a:off x="1620981" y="558514"/>
          <a:ext cx="5056910" cy="3444813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1321626">
                  <a:extLst>
                    <a:ext uri="{9D8B030D-6E8A-4147-A177-3AD203B41FA5}">
                      <a16:colId xmlns:a16="http://schemas.microsoft.com/office/drawing/2014/main" val="2571904752"/>
                    </a:ext>
                  </a:extLst>
                </a:gridCol>
                <a:gridCol w="594732">
                  <a:extLst>
                    <a:ext uri="{9D8B030D-6E8A-4147-A177-3AD203B41FA5}">
                      <a16:colId xmlns:a16="http://schemas.microsoft.com/office/drawing/2014/main" val="2854772702"/>
                    </a:ext>
                  </a:extLst>
                </a:gridCol>
                <a:gridCol w="845297">
                  <a:extLst>
                    <a:ext uri="{9D8B030D-6E8A-4147-A177-3AD203B41FA5}">
                      <a16:colId xmlns:a16="http://schemas.microsoft.com/office/drawing/2014/main" val="2470104243"/>
                    </a:ext>
                  </a:extLst>
                </a:gridCol>
                <a:gridCol w="538947">
                  <a:extLst>
                    <a:ext uri="{9D8B030D-6E8A-4147-A177-3AD203B41FA5}">
                      <a16:colId xmlns:a16="http://schemas.microsoft.com/office/drawing/2014/main" val="102124965"/>
                    </a:ext>
                  </a:extLst>
                </a:gridCol>
                <a:gridCol w="585279">
                  <a:extLst>
                    <a:ext uri="{9D8B030D-6E8A-4147-A177-3AD203B41FA5}">
                      <a16:colId xmlns:a16="http://schemas.microsoft.com/office/drawing/2014/main" val="48962687"/>
                    </a:ext>
                  </a:extLst>
                </a:gridCol>
                <a:gridCol w="585750">
                  <a:extLst>
                    <a:ext uri="{9D8B030D-6E8A-4147-A177-3AD203B41FA5}">
                      <a16:colId xmlns:a16="http://schemas.microsoft.com/office/drawing/2014/main" val="226390925"/>
                    </a:ext>
                  </a:extLst>
                </a:gridCol>
                <a:gridCol w="585279">
                  <a:extLst>
                    <a:ext uri="{9D8B030D-6E8A-4147-A177-3AD203B41FA5}">
                      <a16:colId xmlns:a16="http://schemas.microsoft.com/office/drawing/2014/main" val="3410398217"/>
                    </a:ext>
                  </a:extLst>
                </a:gridCol>
              </a:tblGrid>
              <a:tr h="3042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Acteur / Phase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 dirty="0">
                          <a:effectLst/>
                        </a:rPr>
                        <a:t>P1 Cadrage</a:t>
                      </a:r>
                      <a:endParaRPr lang="fr-FR" sz="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P2 Conception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P3 Dév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P4 Tests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P5 Déploiement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P6 Support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 anchor="ctr"/>
                </a:tc>
                <a:extLst>
                  <a:ext uri="{0D108BD9-81ED-4DB2-BD59-A6C34878D82A}">
                    <a16:rowId xmlns:a16="http://schemas.microsoft.com/office/drawing/2014/main" val="183219885"/>
                  </a:ext>
                </a:extLst>
              </a:tr>
              <a:tr h="195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Sponsor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Accountable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Accountable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3661848305"/>
                  </a:ext>
                </a:extLst>
              </a:tr>
              <a:tr h="195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Business Analysts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3874847389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Project Manager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Accountable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Accountable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Accountable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Accountable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Accountable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Accountable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3470628806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Product Owner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 dirty="0" err="1">
                          <a:effectLst/>
                        </a:rPr>
                        <a:t>Consulted</a:t>
                      </a:r>
                      <a:endParaRPr lang="fr-FR" sz="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4213734602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Scrum Master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3650815705"/>
                  </a:ext>
                </a:extLst>
              </a:tr>
              <a:tr h="195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Data Architect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Accountable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1650673311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Tech Lead Data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Accountable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2414926219"/>
                  </a:ext>
                </a:extLst>
              </a:tr>
              <a:tr h="286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Data Engineers (x3)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619522188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Data Scientist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4207020738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DevOps Engineer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3263242278"/>
                  </a:ext>
                </a:extLst>
              </a:tr>
              <a:tr h="195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QA / Data Quality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2992187174"/>
                  </a:ext>
                </a:extLst>
              </a:tr>
              <a:tr h="286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 dirty="0">
                          <a:effectLst/>
                        </a:rPr>
                        <a:t>Security / Compliance</a:t>
                      </a:r>
                      <a:endParaRPr lang="fr-FR" sz="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3511469347"/>
                  </a:ext>
                </a:extLst>
              </a:tr>
              <a:tr h="195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Change Manager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2962554031"/>
                  </a:ext>
                </a:extLst>
              </a:tr>
              <a:tr h="195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Formateur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Responsible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1243546658"/>
                  </a:ext>
                </a:extLst>
              </a:tr>
              <a:tr h="1953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Support Client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 dirty="0" err="1">
                          <a:effectLst/>
                        </a:rPr>
                        <a:t>Informed</a:t>
                      </a:r>
                      <a:endParaRPr lang="fr-FR" sz="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Informed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>
                          <a:effectLst/>
                        </a:rPr>
                        <a:t>Consulted</a:t>
                      </a:r>
                      <a:endParaRPr lang="fr-FR" sz="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600" dirty="0" err="1">
                          <a:effectLst/>
                        </a:rPr>
                        <a:t>Responsible</a:t>
                      </a:r>
                      <a:endParaRPr lang="fr-FR" sz="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1425" marR="21425" marT="0" marB="0"/>
                </a:tc>
                <a:extLst>
                  <a:ext uri="{0D108BD9-81ED-4DB2-BD59-A6C34878D82A}">
                    <a16:rowId xmlns:a16="http://schemas.microsoft.com/office/drawing/2014/main" val="397897042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9F732D2B-A54E-1F22-CB4D-97505E2BA730}"/>
              </a:ext>
            </a:extLst>
          </p:cNvPr>
          <p:cNvSpPr txBox="1"/>
          <p:nvPr/>
        </p:nvSpPr>
        <p:spPr>
          <a:xfrm>
            <a:off x="1766455" y="4104980"/>
            <a:ext cx="70727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002060"/>
                </a:solidFill>
              </a:rPr>
              <a:t>Légende : </a:t>
            </a:r>
          </a:p>
          <a:p>
            <a:pPr lvl="0"/>
            <a:r>
              <a:rPr lang="fr-FR" sz="1000" dirty="0">
                <a:solidFill>
                  <a:srgbClr val="002060"/>
                </a:solidFill>
              </a:rPr>
              <a:t>- </a:t>
            </a:r>
            <a:r>
              <a:rPr lang="fr-FR" sz="1000" dirty="0" err="1">
                <a:solidFill>
                  <a:srgbClr val="002060"/>
                </a:solidFill>
              </a:rPr>
              <a:t>Responsible</a:t>
            </a:r>
            <a:r>
              <a:rPr lang="fr-FR" sz="1000" dirty="0">
                <a:solidFill>
                  <a:srgbClr val="002060"/>
                </a:solidFill>
              </a:rPr>
              <a:t> : réalise la tâche.</a:t>
            </a:r>
          </a:p>
          <a:p>
            <a:pPr lvl="0"/>
            <a:r>
              <a:rPr lang="fr-FR" sz="1000" dirty="0">
                <a:solidFill>
                  <a:srgbClr val="002060"/>
                </a:solidFill>
              </a:rPr>
              <a:t>- </a:t>
            </a:r>
            <a:r>
              <a:rPr lang="fr-FR" sz="1000" dirty="0" err="1">
                <a:solidFill>
                  <a:srgbClr val="002060"/>
                </a:solidFill>
              </a:rPr>
              <a:t>Accountable</a:t>
            </a:r>
            <a:r>
              <a:rPr lang="fr-FR" sz="1000" dirty="0">
                <a:solidFill>
                  <a:srgbClr val="002060"/>
                </a:solidFill>
              </a:rPr>
              <a:t> : porte la responsabilité finale de la tâche et valide le résultat.</a:t>
            </a:r>
          </a:p>
          <a:p>
            <a:pPr lvl="0"/>
            <a:r>
              <a:rPr lang="fr-FR" sz="1000" dirty="0">
                <a:solidFill>
                  <a:srgbClr val="002060"/>
                </a:solidFill>
              </a:rPr>
              <a:t>- </a:t>
            </a:r>
            <a:r>
              <a:rPr lang="fr-FR" sz="1000" dirty="0" err="1">
                <a:solidFill>
                  <a:srgbClr val="002060"/>
                </a:solidFill>
              </a:rPr>
              <a:t>Consulted</a:t>
            </a:r>
            <a:r>
              <a:rPr lang="fr-FR" sz="1000" dirty="0">
                <a:solidFill>
                  <a:srgbClr val="002060"/>
                </a:solidFill>
              </a:rPr>
              <a:t> : Consulté pour avis ou expertise.</a:t>
            </a:r>
          </a:p>
          <a:p>
            <a:pPr lvl="0"/>
            <a:r>
              <a:rPr lang="fr-FR" sz="1000" dirty="0">
                <a:solidFill>
                  <a:srgbClr val="002060"/>
                </a:solidFill>
              </a:rPr>
              <a:t>- </a:t>
            </a:r>
            <a:r>
              <a:rPr lang="fr-FR" sz="1000" dirty="0" err="1">
                <a:solidFill>
                  <a:srgbClr val="002060"/>
                </a:solidFill>
              </a:rPr>
              <a:t>Informed</a:t>
            </a:r>
            <a:r>
              <a:rPr lang="fr-FR" sz="1000" dirty="0">
                <a:solidFill>
                  <a:srgbClr val="002060"/>
                </a:solidFill>
              </a:rPr>
              <a:t> : Informé du déroulement ou du résultat de la tâche.</a:t>
            </a:r>
          </a:p>
        </p:txBody>
      </p:sp>
    </p:spTree>
    <p:extLst>
      <p:ext uri="{BB962C8B-B14F-4D97-AF65-F5344CB8AC3E}">
        <p14:creationId xmlns:p14="http://schemas.microsoft.com/office/powerpoint/2010/main" val="3736434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D68E4027-8E19-87D7-F828-835C3AF3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842BF22B-773F-762E-7553-5A6D6D87C459}"/>
              </a:ext>
            </a:extLst>
          </p:cNvPr>
          <p:cNvSpPr/>
          <p:nvPr/>
        </p:nvSpPr>
        <p:spPr>
          <a:xfrm>
            <a:off x="3560617" y="2389910"/>
            <a:ext cx="1953491" cy="66138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B05572E-D622-5E3B-F9DC-3FBC7AB52AE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0" y="1702750"/>
            <a:ext cx="9144000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Coûts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6A6D7F39-6DD6-83B8-051F-7600E8CCE8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0451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B80D669-1660-0459-8A75-65B7B3198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12B3F1F1-1520-E5FD-86C7-1E9D9BC42346}"/>
              </a:ext>
            </a:extLst>
          </p:cNvPr>
          <p:cNvSpPr/>
          <p:nvPr/>
        </p:nvSpPr>
        <p:spPr>
          <a:xfrm>
            <a:off x="870310" y="438274"/>
            <a:ext cx="930782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F5C7C9E-2E39-5169-DA15-9B8E8727793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Coûts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5A48EECA-38CC-4EE3-E69A-DCB50C8C13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CFF0AEEA-B9DC-F8AE-FF2D-BAB4C59CC73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0775DE4-07AA-8AF8-C1D3-5C174E837E9B}"/>
              </a:ext>
            </a:extLst>
          </p:cNvPr>
          <p:cNvSpPr txBox="1"/>
          <p:nvPr/>
        </p:nvSpPr>
        <p:spPr>
          <a:xfrm>
            <a:off x="230458" y="615187"/>
            <a:ext cx="19377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Ressources humaines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E8962109-F78C-5DE0-FB00-E3BAE139F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796362"/>
              </p:ext>
            </p:extLst>
          </p:nvPr>
        </p:nvGraphicFramePr>
        <p:xfrm>
          <a:off x="1948422" y="979077"/>
          <a:ext cx="4819524" cy="3924630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1397773">
                  <a:extLst>
                    <a:ext uri="{9D8B030D-6E8A-4147-A177-3AD203B41FA5}">
                      <a16:colId xmlns:a16="http://schemas.microsoft.com/office/drawing/2014/main" val="3840378426"/>
                    </a:ext>
                  </a:extLst>
                </a:gridCol>
                <a:gridCol w="838665">
                  <a:extLst>
                    <a:ext uri="{9D8B030D-6E8A-4147-A177-3AD203B41FA5}">
                      <a16:colId xmlns:a16="http://schemas.microsoft.com/office/drawing/2014/main" val="2421699451"/>
                    </a:ext>
                  </a:extLst>
                </a:gridCol>
                <a:gridCol w="1442502">
                  <a:extLst>
                    <a:ext uri="{9D8B030D-6E8A-4147-A177-3AD203B41FA5}">
                      <a16:colId xmlns:a16="http://schemas.microsoft.com/office/drawing/2014/main" val="3650532764"/>
                    </a:ext>
                  </a:extLst>
                </a:gridCol>
                <a:gridCol w="1140584">
                  <a:extLst>
                    <a:ext uri="{9D8B030D-6E8A-4147-A177-3AD203B41FA5}">
                      <a16:colId xmlns:a16="http://schemas.microsoft.com/office/drawing/2014/main" val="2492937905"/>
                    </a:ext>
                  </a:extLst>
                </a:gridCol>
              </a:tblGrid>
              <a:tr h="3454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 dirty="0">
                          <a:effectLst/>
                        </a:rPr>
                        <a:t>Rôle</a:t>
                      </a:r>
                      <a:endParaRPr lang="fr-FR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 dirty="0">
                          <a:effectLst/>
                        </a:rPr>
                        <a:t>Jours-homme (≈)</a:t>
                      </a:r>
                      <a:endParaRPr lang="fr-FR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Hypothèse TJM (€)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Coût estimé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2453517324"/>
                  </a:ext>
                </a:extLst>
              </a:tr>
              <a:tr h="3454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 dirty="0">
                          <a:effectLst/>
                        </a:rPr>
                        <a:t>Sponsor (interventions ponctuelles)</a:t>
                      </a:r>
                      <a:endParaRPr lang="fr-FR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5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450 € (profil senior direction)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2 250 €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485695057"/>
                  </a:ext>
                </a:extLst>
              </a:tr>
              <a:tr h="170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Business Analysts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23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300 €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6 900 €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3375486854"/>
                  </a:ext>
                </a:extLst>
              </a:tr>
              <a:tr h="170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Project Manager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80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500 €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40 000 €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2001940867"/>
                  </a:ext>
                </a:extLst>
              </a:tr>
              <a:tr h="170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Product Owner (PO)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60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350 €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21 000 €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936362491"/>
                  </a:ext>
                </a:extLst>
              </a:tr>
              <a:tr h="170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Scrum Master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45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400 €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18 000 €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870834268"/>
                  </a:ext>
                </a:extLst>
              </a:tr>
              <a:tr h="170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Data Architect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20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700 €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14 000 €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478917701"/>
                  </a:ext>
                </a:extLst>
              </a:tr>
              <a:tr h="170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Tech Lead Data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40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600 €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24 000 €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391345610"/>
                  </a:ext>
                </a:extLst>
              </a:tr>
              <a:tr h="170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Data Engineers (x2)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60 JH total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500 €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30 000 €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3893704045"/>
                  </a:ext>
                </a:extLst>
              </a:tr>
              <a:tr h="170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Data Scientist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25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550 €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13 750 €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2418441676"/>
                  </a:ext>
                </a:extLst>
              </a:tr>
              <a:tr h="170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DevOps Engineer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35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550 €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19 250 €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2569873778"/>
                  </a:ext>
                </a:extLst>
              </a:tr>
              <a:tr h="336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QA / Data Quality Analyst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25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350 €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8 750 €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2109276202"/>
                  </a:ext>
                </a:extLst>
              </a:tr>
              <a:tr h="3454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Security / Compliance Officer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10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600 €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6 000 €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3637203443"/>
                  </a:ext>
                </a:extLst>
              </a:tr>
              <a:tr h="170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Change Manager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15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500 €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7 500 €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2785425818"/>
                  </a:ext>
                </a:extLst>
              </a:tr>
              <a:tr h="170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Formateur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10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300 €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3 000 €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547159630"/>
                  </a:ext>
                </a:extLst>
              </a:tr>
              <a:tr h="3366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Support Client (post-prod)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15 JH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300 €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4 500 €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3116158840"/>
                  </a:ext>
                </a:extLst>
              </a:tr>
              <a:tr h="170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TOTAL estimé (RH)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 dirty="0">
                          <a:effectLst/>
                        </a:rPr>
                        <a:t>~ 470 JH</a:t>
                      </a:r>
                      <a:endParaRPr lang="fr-FR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>
                          <a:effectLst/>
                        </a:rPr>
                        <a:t>—</a:t>
                      </a:r>
                      <a:endParaRPr lang="fr-FR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000" dirty="0">
                          <a:effectLst/>
                        </a:rPr>
                        <a:t>218 900 €</a:t>
                      </a:r>
                      <a:endParaRPr lang="fr-FR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1375" marR="41375" marT="0" marB="0" anchor="ctr"/>
                </a:tc>
                <a:extLst>
                  <a:ext uri="{0D108BD9-81ED-4DB2-BD59-A6C34878D82A}">
                    <a16:rowId xmlns:a16="http://schemas.microsoft.com/office/drawing/2014/main" val="424048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341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BB7D3DD-10BE-BF15-06F9-D20CB06A2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28CAE246-F1F3-27AC-5607-B98FF0E336E7}"/>
              </a:ext>
            </a:extLst>
          </p:cNvPr>
          <p:cNvSpPr/>
          <p:nvPr/>
        </p:nvSpPr>
        <p:spPr>
          <a:xfrm>
            <a:off x="870310" y="438274"/>
            <a:ext cx="930782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7008EE1-2FBA-872D-1A97-C3BD55C58F2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Coûts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6B4E0D7F-5A70-5071-46CF-916FF40776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227E2274-864A-0846-DAF3-B88F2CF65292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88943CD-AF34-132C-BEFB-6C950957D1FD}"/>
              </a:ext>
            </a:extLst>
          </p:cNvPr>
          <p:cNvSpPr txBox="1"/>
          <p:nvPr/>
        </p:nvSpPr>
        <p:spPr>
          <a:xfrm>
            <a:off x="230457" y="615187"/>
            <a:ext cx="6696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Ressources infra (augmentation de la volumétrie de données de 10% par mois)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7310358C-D27B-48E8-AD05-C4575D49E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607895"/>
              </p:ext>
            </p:extLst>
          </p:nvPr>
        </p:nvGraphicFramePr>
        <p:xfrm>
          <a:off x="870310" y="1605419"/>
          <a:ext cx="6583434" cy="1466469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2440259">
                  <a:extLst>
                    <a:ext uri="{9D8B030D-6E8A-4147-A177-3AD203B41FA5}">
                      <a16:colId xmlns:a16="http://schemas.microsoft.com/office/drawing/2014/main" val="2180725213"/>
                    </a:ext>
                  </a:extLst>
                </a:gridCol>
                <a:gridCol w="1878474">
                  <a:extLst>
                    <a:ext uri="{9D8B030D-6E8A-4147-A177-3AD203B41FA5}">
                      <a16:colId xmlns:a16="http://schemas.microsoft.com/office/drawing/2014/main" val="3716137645"/>
                    </a:ext>
                  </a:extLst>
                </a:gridCol>
                <a:gridCol w="2264701">
                  <a:extLst>
                    <a:ext uri="{9D8B030D-6E8A-4147-A177-3AD203B41FA5}">
                      <a16:colId xmlns:a16="http://schemas.microsoft.com/office/drawing/2014/main" val="336186967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Composant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Coût estimé / mois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Coût estimé / an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183105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Stockage S3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~ 50  €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~600 €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637571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MongoDB (NoSQL logs)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~ 60  €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~ 720 €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2169727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Snowflake (stockage + compute)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~ 1500  €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~ 18 000€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2589718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Hébergement / compute / orchestration / front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~ 100 €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~ 1 200 €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0146940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TOTAL Infra estimée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effectLst/>
                        </a:rPr>
                        <a:t>~ 1 750 €/mois</a:t>
                      </a:r>
                      <a:endParaRPr lang="fr-F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 dirty="0">
                          <a:effectLst/>
                        </a:rPr>
                        <a:t>~ 20 000 €/an</a:t>
                      </a:r>
                      <a:endParaRPr lang="fr-F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468303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23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925E0D67-3C4B-8CFC-418A-D74C4047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265E19FA-61FE-8CF4-6DE8-B24DC7586B3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1" y="1702750"/>
            <a:ext cx="7627943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581B2FBE-5B70-159F-24A5-412C80000A0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549AC6D0-FFD8-3D06-0BD4-57E918978FAE}"/>
              </a:ext>
            </a:extLst>
          </p:cNvPr>
          <p:cNvSpPr/>
          <p:nvPr/>
        </p:nvSpPr>
        <p:spPr>
          <a:xfrm flipV="1">
            <a:off x="1131712" y="2430966"/>
            <a:ext cx="3172659" cy="7601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367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355F9D7-3D67-DB72-E41E-485B9356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57D16E5-6B34-59B9-6D7B-F29949F4ACE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1C68D98A-0EAB-9320-6E9A-B9BBC3BC6C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E7B2D1AE-75B5-CC84-84AE-E8D47BA0BAB9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FFE0D61E-9BCF-FDC5-5235-536488A90E19}"/>
              </a:ext>
            </a:extLst>
          </p:cNvPr>
          <p:cNvSpPr/>
          <p:nvPr/>
        </p:nvSpPr>
        <p:spPr>
          <a:xfrm>
            <a:off x="870309" y="446048"/>
            <a:ext cx="1761379" cy="64615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0C644F-25A4-4164-AA59-25EF9073F6A1}"/>
              </a:ext>
            </a:extLst>
          </p:cNvPr>
          <p:cNvSpPr txBox="1"/>
          <p:nvPr/>
        </p:nvSpPr>
        <p:spPr>
          <a:xfrm>
            <a:off x="2141028" y="1925419"/>
            <a:ext cx="486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rgbClr val="002060"/>
                </a:solidFill>
              </a:rPr>
              <a:t>Prochaines étapes :</a:t>
            </a:r>
          </a:p>
          <a:p>
            <a:pPr algn="ctr"/>
            <a:r>
              <a:rPr lang="fr-FR" sz="1800" dirty="0">
                <a:solidFill>
                  <a:srgbClr val="002060"/>
                </a:solidFill>
              </a:rPr>
              <a:t>Mise en production</a:t>
            </a:r>
          </a:p>
        </p:txBody>
      </p:sp>
    </p:spTree>
    <p:extLst>
      <p:ext uri="{BB962C8B-B14F-4D97-AF65-F5344CB8AC3E}">
        <p14:creationId xmlns:p14="http://schemas.microsoft.com/office/powerpoint/2010/main" val="772387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7"/>
            <a:ext cx="5315100" cy="1142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40CB6479-760E-1555-9CBC-5C0D2069BE7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2269</TotalTime>
  <Words>935</Words>
  <Application>Microsoft Office PowerPoint</Application>
  <PresentationFormat>Affichage à l'écran (16:9)</PresentationFormat>
  <Paragraphs>287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Inter SemiBold</vt:lpstr>
      <vt:lpstr>Cambria</vt:lpstr>
      <vt:lpstr>Inter</vt:lpstr>
      <vt:lpstr>Arial</vt:lpstr>
      <vt:lpstr>Inter Medium</vt:lpstr>
      <vt:lpstr>Calibri</vt:lpstr>
      <vt:lpstr>Aptos</vt:lpstr>
      <vt:lpstr>Simple Light</vt:lpstr>
      <vt:lpstr>Amazon Review Analysis</vt:lpstr>
      <vt:lpstr>Plan</vt:lpstr>
      <vt:lpstr>Acteurs du projet</vt:lpstr>
      <vt:lpstr>Acteurs</vt:lpstr>
      <vt:lpstr>Acteurs</vt:lpstr>
      <vt:lpstr>Planning Gantt</vt:lpstr>
      <vt:lpstr>Planning gantt</vt:lpstr>
      <vt:lpstr>Matrice RACI</vt:lpstr>
      <vt:lpstr>Matrice RACI</vt:lpstr>
      <vt:lpstr>Coûts</vt:lpstr>
      <vt:lpstr>Coûts</vt:lpstr>
      <vt:lpstr>Coûts</vt:lpstr>
      <vt:lpstr>Conclusion</vt:lpstr>
      <vt:lpstr>Conclusion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Dyhia TOUAHRI</cp:lastModifiedBy>
  <cp:revision>67</cp:revision>
  <dcterms:modified xsi:type="dcterms:W3CDTF">2025-12-02T17:26:12Z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3e49bf-5c7f-4a8a-bbbc-7213e78f5e38_Enabled">
    <vt:lpwstr>true</vt:lpwstr>
  </property>
  <property fmtid="{D5CDD505-2E9C-101B-9397-08002B2CF9AE}" pid="3" name="MSIP_Label_663e49bf-5c7f-4a8a-bbbc-7213e78f5e38_SetDate">
    <vt:lpwstr>2025-11-02T15:19:33Z</vt:lpwstr>
  </property>
  <property fmtid="{D5CDD505-2E9C-101B-9397-08002B2CF9AE}" pid="4" name="MSIP_Label_663e49bf-5c7f-4a8a-bbbc-7213e78f5e38_Method">
    <vt:lpwstr>Standard</vt:lpwstr>
  </property>
  <property fmtid="{D5CDD505-2E9C-101B-9397-08002B2CF9AE}" pid="5" name="MSIP_Label_663e49bf-5c7f-4a8a-bbbc-7213e78f5e38_Name">
    <vt:lpwstr>C2 - Information à diffusion restreinte</vt:lpwstr>
  </property>
  <property fmtid="{D5CDD505-2E9C-101B-9397-08002B2CF9AE}" pid="6" name="MSIP_Label_663e49bf-5c7f-4a8a-bbbc-7213e78f5e38_SiteId">
    <vt:lpwstr>039c67fe-49fc-42f3-a2a4-0a85eee29a7d</vt:lpwstr>
  </property>
  <property fmtid="{D5CDD505-2E9C-101B-9397-08002B2CF9AE}" pid="7" name="MSIP_Label_663e49bf-5c7f-4a8a-bbbc-7213e78f5e38_ActionId">
    <vt:lpwstr>b6ce385c-0787-42fc-aa71-7b33b4b295e4</vt:lpwstr>
  </property>
  <property fmtid="{D5CDD505-2E9C-101B-9397-08002B2CF9AE}" pid="8" name="MSIP_Label_663e49bf-5c7f-4a8a-bbbc-7213e78f5e38_ContentBits">
    <vt:lpwstr>2</vt:lpwstr>
  </property>
  <property fmtid="{D5CDD505-2E9C-101B-9397-08002B2CF9AE}" pid="9" name="MSIP_Label_663e49bf-5c7f-4a8a-bbbc-7213e78f5e38_Tag">
    <vt:lpwstr>10, 3, 0, 1</vt:lpwstr>
  </property>
  <property fmtid="{D5CDD505-2E9C-101B-9397-08002B2CF9AE}" pid="10" name="ClassificationContentMarkingFooterLocations">
    <vt:lpwstr>Simple Light:3</vt:lpwstr>
  </property>
  <property fmtid="{D5CDD505-2E9C-101B-9397-08002B2CF9AE}" pid="11" name="ClassificationContentMarkingFooterText">
    <vt:lpwstr>C2 - Interne</vt:lpwstr>
  </property>
</Properties>
</file>